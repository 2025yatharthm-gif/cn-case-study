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embeddedFontLst>
    <p:embeddedFont>
      <p:font typeface="Atkinson Hyperlegible Next"/>
      <p:regular r:id="rId201314"/>
    </p:embeddedFont>
    <p:embeddedFont>
      <p:font typeface="Atkinson Hyperlegible Next Bold"/>
      <p:regular r:id="rId201315"/>
    </p:embeddedFont>
    <p:embeddedFont>
      <p:font typeface="Overpass SemiBold"/>
      <p:regular r:id="rId201316"/>
    </p:embeddedFont>
    <p:embeddedFont>
      <p:font typeface="Overpass ExtraBold"/>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Vellum as a three-location rare-books chain whose network must protect provenance data, point-of-sale systems, staff operations, and guests while remaining resilient and manageable.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problem as both a performance and security issue. The same flat design that allows traffic to travel widely also makes failures harder to contain and troubleshoot.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objectives become the evaluation criteria for the design. VLANs address segmentation, trunks and ACLs address control, STP addresses loop safety, EtherChannel addresses link resilience, and port security hardens the 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audience through the three locations. Each site has a router, a local switch, and four PCs. The switches form a triangle, while the two parallel SW0–SW2 links establish the physical basis for EtherChannel.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that VLAN IDs are purposeful, not arbitrary labels. VLAN 915 is the guest boundary, while VLAN 999 is reserved and unused for user traffic, strengthening trunk hygiene.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matrix to show that segmentation follows actual site requirements. Main Street and Auction Annex need provenance and staff/POS access. Harborfront adds administration, IT management, and guest access, but only where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802.1Q adds VLAN identity to frames on the trunk. The design permits only the required VLANs and reserves VLAN 999 as an unused native VLAN, reducing accidental exposure.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Redundant links are valuable only when loop behavior is controlled. STP elects SW0 as the planned root bridge, keeps the two direct paths forwarding, and blocks the SW1–SW2 path until it is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EtherChannel changes the logical view of the two SW0–SW2 links. LACP bundles them into one Port-Channel, allowing load distribution and preserving the bundle when one physical member fails.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architecture by connecting VLANs to routing policy. Each VLAN maps to a router subinterface and default gateway. ACLs decide what may communicate, sending guest traffic toward the internet while blocking access to sensitive internal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2.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F7FAF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pic>
        <p:nvPicPr>
          <p:cNvPr id="3" name="Image 1" descr="preencoded.png">
            <a:hlinkClick r:id="rId3" tooltip=""/>
          </p:cNvPr>
          <p:cNvPicPr>
            <a:picLocks noChangeAspect="1"/>
          </p:cNvPicPr>
          <p:nvPr/>
        </p:nvPicPr>
        <p:blipFill>
          <a:blip r:embed="rId2"/>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F7FAFC"/>
        </a:solidFill>
      </p:bgPr>
    </p:bg>
    <p:spTree>
      <p:nvGrpSpPr>
        <p:cNvPr id="1" name=""/>
        <p:cNvGrpSpPr/>
        <p:nvPr/>
      </p:nvGrpSpPr>
      <p:grpSpPr>
        <a:xfrm>
          <a:off x="0" y="0"/>
          <a:ext cx="0" cy="0"/>
          <a:chOff x="0" y="0"/>
          <a:chExt cx="0" cy="0"/>
        </a:xfrm>
      </p:grpSpPr>
      <p:pic>
        <p:nvPicPr>
          <p:cNvPr id="2"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84185" y="685800"/>
            <a:ext cx="6349841" cy="4982270"/>
          </a:xfrm>
          <a:prstGeom prst="roundRect">
            <a:avLst>
              <a:gd name="adj" fmla="val 2447"/>
            </a:avLst>
          </a:prstGeom>
          <a:solidFill>
            <a:srgbClr val="14213D"/>
          </a:solidFill>
          <a:ln/>
        </p:spPr>
      </p:sp>
      <p:sp>
        <p:nvSpPr>
          <p:cNvPr id="3" name="Text 1"/>
          <p:cNvSpPr/>
          <p:nvPr/>
        </p:nvSpPr>
        <p:spPr>
          <a:xfrm>
            <a:off x="990575" y="1041400"/>
            <a:ext cx="6146646" cy="302220"/>
          </a:xfrm>
          <a:prstGeom prst="rect">
            <a:avLst/>
          </a:prstGeom>
          <a:noFill/>
          <a:ln/>
        </p:spPr>
        <p:txBody>
          <a:bodyPr wrap="none" lIns="0" tIns="0" rIns="0" bIns="0" rtlCol="0" anchor="t"/>
          <a:lstStyle/>
          <a:p>
            <a:pPr algn="l" indent="0" marL="0">
              <a:lnSpc>
                <a:spcPct val="117000"/>
              </a:lnSpc>
              <a:buNone/>
            </a:pPr>
            <a:r>
              <a:rPr lang="en-US" sz="1700" dirty="0">
                <a:solidFill>
                  <a:srgbClr val="FFFFFF"/>
                </a:solidFill>
                <a:latin typeface="Atkinson Hyperlegible Next" pitchFamily="34" charset="0"/>
                <a:ea typeface="Atkinson Hyperlegible Next" pitchFamily="34" charset="-122"/>
                <a:cs typeface="Atkinson Hyperlegible Next" pitchFamily="34" charset="-120"/>
              </a:rPr>
              <a:t>CASE STUDY 117</a:t>
            </a:r>
            <a:endParaRPr lang="en-US" sz="1700" dirty="0"/>
          </a:p>
        </p:txBody>
      </p:sp>
      <p:sp>
        <p:nvSpPr>
          <p:cNvPr id="4" name="Text 2"/>
          <p:cNvSpPr/>
          <p:nvPr/>
        </p:nvSpPr>
        <p:spPr>
          <a:xfrm>
            <a:off x="990575" y="1705570"/>
            <a:ext cx="5537061" cy="1632049"/>
          </a:xfrm>
          <a:prstGeom prst="rect">
            <a:avLst/>
          </a:prstGeom>
          <a:noFill/>
          <a:ln/>
        </p:spPr>
        <p:txBody>
          <a:bodyPr wrap="square" lIns="0" tIns="0" rIns="0" bIns="0" rtlCol="0" anchor="t">
            <a:normAutofit/>
          </a:bodyPr>
          <a:lstStyle/>
          <a:p>
            <a:pPr algn="l" indent="0" marL="0">
              <a:lnSpc>
                <a:spcPct val="85000"/>
              </a:lnSpc>
              <a:buNone/>
            </a:pPr>
            <a:r>
              <a:rPr lang="en-US" sz="4200" spc="-21" kern="100" dirty="0">
                <a:solidFill>
                  <a:srgbClr val="FFFFFF"/>
                </a:solidFill>
                <a:latin typeface="Overpass ExtraBold" pitchFamily="34" charset="0"/>
                <a:ea typeface="Overpass ExtraBold" pitchFamily="34" charset="-122"/>
                <a:cs typeface="Overpass ExtraBold" pitchFamily="34" charset="-120"/>
              </a:rPr>
              <a:t>Vellum Antiquarian Bookstore &amp; Rare Books Chain</a:t>
            </a:r>
            <a:endParaRPr lang="en-US" sz="4200" dirty="0"/>
          </a:p>
        </p:txBody>
      </p:sp>
      <p:sp>
        <p:nvSpPr>
          <p:cNvPr id="5" name="Text 3"/>
          <p:cNvSpPr/>
          <p:nvPr/>
        </p:nvSpPr>
        <p:spPr>
          <a:xfrm>
            <a:off x="990575" y="3528120"/>
            <a:ext cx="5537061" cy="603250"/>
          </a:xfrm>
          <a:prstGeom prst="rect">
            <a:avLst/>
          </a:prstGeom>
          <a:noFill/>
          <a:ln/>
        </p:spPr>
        <p:txBody>
          <a:bodyPr wrap="square" lIns="0" tIns="0" rIns="0" bIns="0" rtlCol="0" anchor="t">
            <a:normAutofit/>
          </a:bodyPr>
          <a:lstStyle/>
          <a:p>
            <a:pPr algn="l" indent="0" marL="0">
              <a:lnSpc>
                <a:spcPct val="104000"/>
              </a:lnSpc>
              <a:buNone/>
            </a:pPr>
            <a:r>
              <a:rPr lang="en-US" sz="1900" b="1" spc="-9" kern="100" dirty="0">
                <a:solidFill>
                  <a:srgbClr val="FFFFFF"/>
                </a:solidFill>
                <a:latin typeface="Atkinson Hyperlegible Next Bold" pitchFamily="34" charset="0"/>
                <a:ea typeface="Atkinson Hyperlegible Next Bold" pitchFamily="34" charset="-122"/>
                <a:cs typeface="Atkinson Hyperlegible Next Bold" pitchFamily="34" charset="-120"/>
              </a:rPr>
              <a:t>Campus LAN Segmentation, Trunking &amp; Spanning Tree</a:t>
            </a:r>
            <a:endParaRPr lang="en-US" sz="1900" dirty="0"/>
          </a:p>
        </p:txBody>
      </p:sp>
      <p:sp>
        <p:nvSpPr>
          <p:cNvPr id="6" name="Text 4"/>
          <p:cNvSpPr/>
          <p:nvPr/>
        </p:nvSpPr>
        <p:spPr>
          <a:xfrm>
            <a:off x="990575" y="4321870"/>
            <a:ext cx="5537061" cy="990600"/>
          </a:xfrm>
          <a:prstGeom prst="rect">
            <a:avLst/>
          </a:prstGeom>
          <a:noFill/>
          <a:ln/>
        </p:spPr>
        <p:txBody>
          <a:bodyPr wrap="square" lIns="0" tIns="0" rIns="0" bIns="0" rtlCol="0" anchor="t">
            <a:normAutofit/>
          </a:bodyPr>
          <a:lstStyle/>
          <a:p>
            <a:pPr algn="l" indent="0" marL="0">
              <a:lnSpc>
                <a:spcPct val="117000"/>
              </a:lnSpc>
              <a:spcAft>
                <a:spcPts val="1450"/>
              </a:spcAft>
              <a:buNone/>
            </a:pPr>
            <a:r>
              <a:rPr lang="en-US" sz="1500" dirty="0">
                <a:solidFill>
                  <a:srgbClr val="FFFFFF"/>
                </a:solidFill>
                <a:latin typeface="Atkinson Hyperlegible Next" pitchFamily="34" charset="0"/>
                <a:ea typeface="Atkinson Hyperlegible Next" pitchFamily="34" charset="-122"/>
                <a:cs typeface="Atkinson Hyperlegible Next" pitchFamily="34" charset="-120"/>
              </a:rPr>
              <a:t>Yatharth Dharmesh Mishra · B.Tech CSE 2025–29 · ITM Skills University</a:t>
            </a:r>
            <a:endParaRPr lang="en-US" sz="1500" dirty="0"/>
          </a:p>
          <a:p>
            <a:pPr algn="l" indent="0" marL="0">
              <a:lnSpc>
                <a:spcPct val="117000"/>
              </a:lnSpc>
              <a:buNone/>
            </a:pPr>
            <a:r>
              <a:rPr lang="en-US" sz="1500" dirty="0">
                <a:solidFill>
                  <a:srgbClr val="FFFFFF"/>
                </a:solidFill>
                <a:latin typeface="Atkinson Hyperlegible Next" pitchFamily="34" charset="0"/>
                <a:ea typeface="Atkinson Hyperlegible Next" pitchFamily="34" charset="-122"/>
                <a:cs typeface="Atkinson Hyperlegible Next" pitchFamily="34" charset="-120"/>
              </a:rPr>
              <a:t>Computer Networking &amp; Cyber Security</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4693822" cy="6858000"/>
          </a:xfrm>
          <a:prstGeom prst="roundRect">
            <a:avLst>
              <a:gd name="adj" fmla="val 2597"/>
            </a:avLst>
          </a:prstGeom>
          <a:solidFill>
            <a:srgbClr val="14213D"/>
          </a:solidFill>
          <a:ln/>
        </p:spPr>
      </p:sp>
      <p:sp>
        <p:nvSpPr>
          <p:cNvPr id="3" name="Text 1"/>
          <p:cNvSpPr/>
          <p:nvPr/>
        </p:nvSpPr>
        <p:spPr>
          <a:xfrm>
            <a:off x="380990" y="355600"/>
            <a:ext cx="4312832" cy="198041"/>
          </a:xfrm>
          <a:prstGeom prst="rect">
            <a:avLst/>
          </a:prstGeom>
          <a:noFill/>
          <a:ln/>
        </p:spPr>
        <p:txBody>
          <a:bodyPr wrap="none" lIns="0" tIns="0" rIns="0" bIns="0" rtlCol="0" anchor="t"/>
          <a:lstStyle/>
          <a:p>
            <a:pPr algn="l" indent="0" marL="0">
              <a:lnSpc>
                <a:spcPct val="100000"/>
              </a:lnSpc>
              <a:buNone/>
            </a:pPr>
            <a:r>
              <a:rPr lang="en-US" sz="1300" b="1" spc="13" kern="100" dirty="0">
                <a:solidFill>
                  <a:srgbClr val="FFFFFF"/>
                </a:solidFill>
                <a:latin typeface="Atkinson Hyperlegible Next Bold" pitchFamily="34" charset="0"/>
                <a:ea typeface="Atkinson Hyperlegible Next Bold" pitchFamily="34" charset="-122"/>
                <a:cs typeface="Atkinson Hyperlegible Next Bold" pitchFamily="34" charset="-120"/>
              </a:rPr>
              <a:t>THE RISK</a:t>
            </a:r>
            <a:endParaRPr lang="en-US" sz="1300" dirty="0"/>
          </a:p>
        </p:txBody>
      </p:sp>
      <p:sp>
        <p:nvSpPr>
          <p:cNvPr id="4" name="Text 2"/>
          <p:cNvSpPr/>
          <p:nvPr/>
        </p:nvSpPr>
        <p:spPr>
          <a:xfrm>
            <a:off x="380990" y="639366"/>
            <a:ext cx="3931841" cy="2720082"/>
          </a:xfrm>
          <a:prstGeom prst="rect">
            <a:avLst/>
          </a:prstGeom>
          <a:noFill/>
          <a:ln/>
        </p:spPr>
        <p:txBody>
          <a:bodyPr wrap="square" lIns="0" tIns="0" rIns="0" bIns="0" rtlCol="0" anchor="t">
            <a:normAutofit/>
          </a:bodyPr>
          <a:lstStyle/>
          <a:p>
            <a:pPr algn="l" indent="0" marL="0">
              <a:lnSpc>
                <a:spcPct val="85000"/>
              </a:lnSpc>
              <a:buNone/>
            </a:pPr>
            <a:r>
              <a:rPr lang="en-US" sz="4200" spc="-21" kern="100" dirty="0">
                <a:solidFill>
                  <a:srgbClr val="FFFFFF"/>
                </a:solidFill>
                <a:latin typeface="Overpass ExtraBold" pitchFamily="34" charset="0"/>
                <a:ea typeface="Overpass ExtraBold" pitchFamily="34" charset="-122"/>
                <a:cs typeface="Overpass ExtraBold" pitchFamily="34" charset="-120"/>
              </a:rPr>
              <a:t>A flat network is putting three rare-book locations at risk</a:t>
            </a:r>
            <a:endParaRPr lang="en-US" sz="4200" dirty="0"/>
          </a:p>
        </p:txBody>
      </p:sp>
      <p:pic>
        <p:nvPicPr>
          <p:cNvPr id="5" name="Image 0" descr="preencoded.png">    </p:cNvPr>
          <p:cNvPicPr>
            <a:picLocks noChangeAspect="1"/>
          </p:cNvPicPr>
          <p:nvPr/>
        </p:nvPicPr>
        <p:blipFill>
          <a:blip r:embed="rId1"/>
          <a:stretch>
            <a:fillRect/>
          </a:stretch>
        </p:blipFill>
        <p:spPr>
          <a:xfrm>
            <a:off x="5658899" y="508000"/>
            <a:ext cx="431789" cy="431800"/>
          </a:xfrm>
          <a:prstGeom prst="rect">
            <a:avLst/>
          </a:prstGeom>
        </p:spPr>
      </p:pic>
      <p:sp>
        <p:nvSpPr>
          <p:cNvPr id="6" name="Text 3"/>
          <p:cNvSpPr/>
          <p:nvPr/>
        </p:nvSpPr>
        <p:spPr>
          <a:xfrm>
            <a:off x="5658899" y="1130300"/>
            <a:ext cx="2428219" cy="349250"/>
          </a:xfrm>
          <a:prstGeom prst="rect">
            <a:avLst/>
          </a:prstGeom>
          <a:noFill/>
          <a:ln/>
        </p:spPr>
        <p:txBody>
          <a:bodyPr wrap="none" lIns="0" tIns="0" rIns="0" bIns="0" rtlCol="0" anchor="t"/>
          <a:lstStyle/>
          <a:p>
            <a:pPr algn="l" indent="0" marL="0">
              <a:lnSpc>
                <a:spcPct val="104000"/>
              </a:lnSpc>
              <a:buNone/>
            </a:pPr>
            <a:r>
              <a:rPr lang="en-US" sz="2200" b="1" dirty="0">
                <a:solidFill>
                  <a:srgbClr val="14213D"/>
                </a:solidFill>
                <a:latin typeface="Atkinson Hyperlegible Next Bold" pitchFamily="34" charset="0"/>
                <a:ea typeface="Atkinson Hyperlegible Next Bold" pitchFamily="34" charset="-122"/>
                <a:cs typeface="Atkinson Hyperlegible Next Bold" pitchFamily="34" charset="-120"/>
              </a:rPr>
              <a:t>Three sites</a:t>
            </a:r>
            <a:endParaRPr lang="en-US" sz="2200" dirty="0"/>
          </a:p>
        </p:txBody>
      </p:sp>
      <p:sp>
        <p:nvSpPr>
          <p:cNvPr id="7" name="Text 4"/>
          <p:cNvSpPr/>
          <p:nvPr/>
        </p:nvSpPr>
        <p:spPr>
          <a:xfrm>
            <a:off x="5658899" y="1631950"/>
            <a:ext cx="2428219" cy="604441"/>
          </a:xfrm>
          <a:prstGeom prst="rect">
            <a:avLst/>
          </a:prstGeom>
          <a:noFill/>
          <a:ln/>
        </p:spPr>
        <p:txBody>
          <a:bodyPr wrap="square" lIns="0" tIns="0" rIns="0" bIns="0" rtlCol="0" anchor="t">
            <a:normAutofit/>
          </a:bodyPr>
          <a:lstStyle/>
          <a:p>
            <a:pPr algn="l" indent="0" marL="0">
              <a:lnSpc>
                <a:spcPct val="117000"/>
              </a:lnSpc>
              <a:buNone/>
            </a:pPr>
            <a:r>
              <a:rPr lang="en-US" sz="1700" dirty="0">
                <a:solidFill>
                  <a:srgbClr val="14213D"/>
                </a:solidFill>
                <a:latin typeface="Atkinson Hyperlegible Next" pitchFamily="34" charset="0"/>
                <a:ea typeface="Atkinson Hyperlegible Next" pitchFamily="34" charset="-122"/>
                <a:cs typeface="Atkinson Hyperlegible Next" pitchFamily="34" charset="-120"/>
              </a:rPr>
              <a:t>Main Street, Harborfront, and Auction Annex.</a:t>
            </a:r>
            <a:endParaRPr lang="en-US" sz="1700" dirty="0"/>
          </a:p>
        </p:txBody>
      </p:sp>
      <p:pic>
        <p:nvPicPr>
          <p:cNvPr id="8" name="Image 1" descr="preencoded.png">    </p:cNvPr>
          <p:cNvPicPr>
            <a:picLocks noChangeAspect="1"/>
          </p:cNvPicPr>
          <p:nvPr/>
        </p:nvPicPr>
        <p:blipFill>
          <a:blip r:embed="rId2"/>
          <a:stretch>
            <a:fillRect/>
          </a:stretch>
        </p:blipFill>
        <p:spPr>
          <a:xfrm>
            <a:off x="9255489" y="508000"/>
            <a:ext cx="431789" cy="431800"/>
          </a:xfrm>
          <a:prstGeom prst="rect">
            <a:avLst/>
          </a:prstGeom>
        </p:spPr>
      </p:pic>
      <p:sp>
        <p:nvSpPr>
          <p:cNvPr id="9" name="Text 5"/>
          <p:cNvSpPr/>
          <p:nvPr/>
        </p:nvSpPr>
        <p:spPr>
          <a:xfrm>
            <a:off x="9255489" y="1130300"/>
            <a:ext cx="2428219" cy="349250"/>
          </a:xfrm>
          <a:prstGeom prst="rect">
            <a:avLst/>
          </a:prstGeom>
          <a:noFill/>
          <a:ln/>
        </p:spPr>
        <p:txBody>
          <a:bodyPr wrap="none" lIns="0" tIns="0" rIns="0" bIns="0" rtlCol="0" anchor="t"/>
          <a:lstStyle/>
          <a:p>
            <a:pPr algn="l" indent="0" marL="0">
              <a:lnSpc>
                <a:spcPct val="104000"/>
              </a:lnSpc>
              <a:buNone/>
            </a:pPr>
            <a:r>
              <a:rPr lang="en-US" sz="2200" b="1" dirty="0">
                <a:solidFill>
                  <a:srgbClr val="14213D"/>
                </a:solidFill>
                <a:latin typeface="Atkinson Hyperlegible Next Bold" pitchFamily="34" charset="0"/>
                <a:ea typeface="Atkinson Hyperlegible Next Bold" pitchFamily="34" charset="-122"/>
                <a:cs typeface="Atkinson Hyperlegible Next Bold" pitchFamily="34" charset="-120"/>
              </a:rPr>
              <a:t>Flat traffic</a:t>
            </a:r>
            <a:endParaRPr lang="en-US" sz="2200" dirty="0"/>
          </a:p>
        </p:txBody>
      </p:sp>
      <p:sp>
        <p:nvSpPr>
          <p:cNvPr id="10" name="Text 6"/>
          <p:cNvSpPr/>
          <p:nvPr/>
        </p:nvSpPr>
        <p:spPr>
          <a:xfrm>
            <a:off x="9255489" y="1631950"/>
            <a:ext cx="2428219" cy="1208881"/>
          </a:xfrm>
          <a:prstGeom prst="rect">
            <a:avLst/>
          </a:prstGeom>
          <a:noFill/>
          <a:ln/>
        </p:spPr>
        <p:txBody>
          <a:bodyPr wrap="square" lIns="0" tIns="0" rIns="0" bIns="0" rtlCol="0" anchor="t">
            <a:normAutofit/>
          </a:bodyPr>
          <a:lstStyle/>
          <a:p>
            <a:pPr algn="l" indent="0" marL="0">
              <a:lnSpc>
                <a:spcPct val="117000"/>
              </a:lnSpc>
              <a:buNone/>
            </a:pPr>
            <a:r>
              <a:rPr lang="en-US" sz="1700" dirty="0">
                <a:solidFill>
                  <a:srgbClr val="14213D"/>
                </a:solidFill>
                <a:latin typeface="Atkinson Hyperlegible Next" pitchFamily="34" charset="0"/>
                <a:ea typeface="Atkinson Hyperlegible Next" pitchFamily="34" charset="-122"/>
                <a:cs typeface="Atkinson Hyperlegible Next" pitchFamily="34" charset="-120"/>
              </a:rPr>
              <a:t>One flat broadcast domain creates unnecessary traffic and storm risk.</a:t>
            </a:r>
            <a:endParaRPr lang="en-US" sz="1700" dirty="0"/>
          </a:p>
        </p:txBody>
      </p:sp>
      <p:pic>
        <p:nvPicPr>
          <p:cNvPr id="11" name="Image 2" descr="preencoded.png">    </p:cNvPr>
          <p:cNvPicPr>
            <a:picLocks noChangeAspect="1"/>
          </p:cNvPicPr>
          <p:nvPr/>
        </p:nvPicPr>
        <p:blipFill>
          <a:blip r:embed="rId3"/>
          <a:stretch>
            <a:fillRect/>
          </a:stretch>
        </p:blipFill>
        <p:spPr>
          <a:xfrm>
            <a:off x="5658899" y="4013200"/>
            <a:ext cx="431789" cy="431800"/>
          </a:xfrm>
          <a:prstGeom prst="rect">
            <a:avLst/>
          </a:prstGeom>
        </p:spPr>
      </p:pic>
      <p:sp>
        <p:nvSpPr>
          <p:cNvPr id="12" name="Text 7"/>
          <p:cNvSpPr/>
          <p:nvPr/>
        </p:nvSpPr>
        <p:spPr>
          <a:xfrm>
            <a:off x="5658899" y="4635500"/>
            <a:ext cx="2428219" cy="349250"/>
          </a:xfrm>
          <a:prstGeom prst="rect">
            <a:avLst/>
          </a:prstGeom>
          <a:noFill/>
          <a:ln/>
        </p:spPr>
        <p:txBody>
          <a:bodyPr wrap="none" lIns="0" tIns="0" rIns="0" bIns="0" rtlCol="0" anchor="t"/>
          <a:lstStyle/>
          <a:p>
            <a:pPr algn="l" indent="0" marL="0">
              <a:lnSpc>
                <a:spcPct val="104000"/>
              </a:lnSpc>
              <a:buNone/>
            </a:pPr>
            <a:r>
              <a:rPr lang="en-US" sz="2200" b="1" dirty="0">
                <a:solidFill>
                  <a:srgbClr val="14213D"/>
                </a:solidFill>
                <a:latin typeface="Atkinson Hyperlegible Next Bold" pitchFamily="34" charset="0"/>
                <a:ea typeface="Atkinson Hyperlegible Next Bold" pitchFamily="34" charset="-122"/>
                <a:cs typeface="Atkinson Hyperlegible Next Bold" pitchFamily="34" charset="-120"/>
              </a:rPr>
              <a:t>Guest exposure</a:t>
            </a:r>
            <a:endParaRPr lang="en-US" sz="2200" dirty="0"/>
          </a:p>
        </p:txBody>
      </p:sp>
      <p:sp>
        <p:nvSpPr>
          <p:cNvPr id="13" name="Text 8"/>
          <p:cNvSpPr/>
          <p:nvPr/>
        </p:nvSpPr>
        <p:spPr>
          <a:xfrm>
            <a:off x="5658899" y="5137150"/>
            <a:ext cx="2428219" cy="906661"/>
          </a:xfrm>
          <a:prstGeom prst="rect">
            <a:avLst/>
          </a:prstGeom>
          <a:noFill/>
          <a:ln/>
        </p:spPr>
        <p:txBody>
          <a:bodyPr wrap="square" lIns="0" tIns="0" rIns="0" bIns="0" rtlCol="0" anchor="t">
            <a:normAutofit/>
          </a:bodyPr>
          <a:lstStyle/>
          <a:p>
            <a:pPr algn="l" indent="0" marL="0">
              <a:lnSpc>
                <a:spcPct val="117000"/>
              </a:lnSpc>
              <a:buNone/>
            </a:pPr>
            <a:r>
              <a:rPr lang="en-US" sz="1700" dirty="0">
                <a:solidFill>
                  <a:srgbClr val="14213D"/>
                </a:solidFill>
                <a:latin typeface="Atkinson Hyperlegible Next" pitchFamily="34" charset="0"/>
                <a:ea typeface="Atkinson Hyperlegible Next" pitchFamily="34" charset="-122"/>
                <a:cs typeface="Atkinson Hyperlegible Next" pitchFamily="34" charset="-120"/>
              </a:rPr>
              <a:t>Guest users can reach sensitive staff, POS, and provenance resources.</a:t>
            </a:r>
            <a:endParaRPr lang="en-US" sz="1700" dirty="0"/>
          </a:p>
        </p:txBody>
      </p:sp>
      <p:pic>
        <p:nvPicPr>
          <p:cNvPr id="14" name="Image 3" descr="preencoded.png">    </p:cNvPr>
          <p:cNvPicPr>
            <a:picLocks noChangeAspect="1"/>
          </p:cNvPicPr>
          <p:nvPr/>
        </p:nvPicPr>
        <p:blipFill>
          <a:blip r:embed="rId4"/>
          <a:stretch>
            <a:fillRect/>
          </a:stretch>
        </p:blipFill>
        <p:spPr>
          <a:xfrm>
            <a:off x="9255489" y="4013200"/>
            <a:ext cx="431789" cy="431800"/>
          </a:xfrm>
          <a:prstGeom prst="rect">
            <a:avLst/>
          </a:prstGeom>
        </p:spPr>
      </p:pic>
      <p:sp>
        <p:nvSpPr>
          <p:cNvPr id="15" name="Text 9"/>
          <p:cNvSpPr/>
          <p:nvPr/>
        </p:nvSpPr>
        <p:spPr>
          <a:xfrm>
            <a:off x="9255489" y="4635500"/>
            <a:ext cx="2428219" cy="349250"/>
          </a:xfrm>
          <a:prstGeom prst="rect">
            <a:avLst/>
          </a:prstGeom>
          <a:noFill/>
          <a:ln/>
        </p:spPr>
        <p:txBody>
          <a:bodyPr wrap="none" lIns="0" tIns="0" rIns="0" bIns="0" rtlCol="0" anchor="t"/>
          <a:lstStyle/>
          <a:p>
            <a:pPr algn="l" indent="0" marL="0">
              <a:lnSpc>
                <a:spcPct val="104000"/>
              </a:lnSpc>
              <a:buNone/>
            </a:pPr>
            <a:r>
              <a:rPr lang="en-US" sz="2200" b="1" dirty="0">
                <a:solidFill>
                  <a:srgbClr val="14213D"/>
                </a:solidFill>
                <a:latin typeface="Atkinson Hyperlegible Next Bold" pitchFamily="34" charset="0"/>
                <a:ea typeface="Atkinson Hyperlegible Next Bold" pitchFamily="34" charset="-122"/>
                <a:cs typeface="Atkinson Hyperlegible Next Bold" pitchFamily="34" charset="-120"/>
              </a:rPr>
              <a:t>Required shift</a:t>
            </a:r>
            <a:endParaRPr lang="en-US" sz="2200" dirty="0"/>
          </a:p>
        </p:txBody>
      </p:sp>
      <p:sp>
        <p:nvSpPr>
          <p:cNvPr id="16" name="Text 10"/>
          <p:cNvSpPr/>
          <p:nvPr/>
        </p:nvSpPr>
        <p:spPr>
          <a:xfrm>
            <a:off x="9255489" y="5137150"/>
            <a:ext cx="2428219" cy="1208881"/>
          </a:xfrm>
          <a:prstGeom prst="rect">
            <a:avLst/>
          </a:prstGeom>
          <a:noFill/>
          <a:ln/>
        </p:spPr>
        <p:txBody>
          <a:bodyPr wrap="square" lIns="0" tIns="0" rIns="0" bIns="0" rtlCol="0" anchor="t">
            <a:normAutofit/>
          </a:bodyPr>
          <a:lstStyle/>
          <a:p>
            <a:pPr algn="l" indent="0" marL="0">
              <a:lnSpc>
                <a:spcPct val="117000"/>
              </a:lnSpc>
              <a:buNone/>
            </a:pPr>
            <a:r>
              <a:rPr lang="en-US" sz="1700" dirty="0">
                <a:solidFill>
                  <a:srgbClr val="14213D"/>
                </a:solidFill>
                <a:latin typeface="Atkinson Hyperlegible Next" pitchFamily="34" charset="0"/>
                <a:ea typeface="Atkinson Hyperlegible Next" pitchFamily="34" charset="-122"/>
                <a:cs typeface="Atkinson Hyperlegible Next" pitchFamily="34" charset="-120"/>
              </a:rPr>
              <a:t>The chain needs segmentation, controlled access, and resilient links.</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3324836" cy="6858000"/>
          </a:xfrm>
          <a:prstGeom prst="roundRect">
            <a:avLst>
              <a:gd name="adj" fmla="val 3667"/>
            </a:avLst>
          </a:prstGeom>
          <a:solidFill>
            <a:srgbClr val="14213D"/>
          </a:solidFill>
          <a:ln/>
        </p:spPr>
      </p:sp>
      <p:sp>
        <p:nvSpPr>
          <p:cNvPr id="3" name="Text 1"/>
          <p:cNvSpPr/>
          <p:nvPr/>
        </p:nvSpPr>
        <p:spPr>
          <a:xfrm>
            <a:off x="330192" y="431800"/>
            <a:ext cx="2994645" cy="198041"/>
          </a:xfrm>
          <a:prstGeom prst="rect">
            <a:avLst/>
          </a:prstGeom>
          <a:noFill/>
          <a:ln/>
        </p:spPr>
        <p:txBody>
          <a:bodyPr wrap="none" lIns="0" tIns="0" rIns="0" bIns="0" rtlCol="0" anchor="t"/>
          <a:lstStyle/>
          <a:p>
            <a:pPr algn="l" indent="0" marL="0">
              <a:lnSpc>
                <a:spcPct val="100000"/>
              </a:lnSpc>
              <a:buNone/>
            </a:pPr>
            <a:r>
              <a:rPr lang="en-US" sz="1300" b="1" spc="13" kern="100" dirty="0">
                <a:solidFill>
                  <a:srgbClr val="FFFFFF"/>
                </a:solidFill>
                <a:latin typeface="Atkinson Hyperlegible Next Bold" pitchFamily="34" charset="0"/>
                <a:ea typeface="Atkinson Hyperlegible Next Bold" pitchFamily="34" charset="-122"/>
                <a:cs typeface="Atkinson Hyperlegible Next Bold" pitchFamily="34" charset="-120"/>
              </a:rPr>
              <a:t>THE DESIGN BRIEF</a:t>
            </a:r>
            <a:endParaRPr lang="en-US" sz="1300" dirty="0"/>
          </a:p>
        </p:txBody>
      </p:sp>
      <p:sp>
        <p:nvSpPr>
          <p:cNvPr id="4" name="Text 2"/>
          <p:cNvSpPr/>
          <p:nvPr/>
        </p:nvSpPr>
        <p:spPr>
          <a:xfrm>
            <a:off x="330192" y="715566"/>
            <a:ext cx="2664453" cy="3264098"/>
          </a:xfrm>
          <a:prstGeom prst="rect">
            <a:avLst/>
          </a:prstGeom>
          <a:noFill/>
          <a:ln/>
        </p:spPr>
        <p:txBody>
          <a:bodyPr wrap="square" lIns="0" tIns="0" rIns="0" bIns="0" rtlCol="0" anchor="t">
            <a:normAutofit/>
          </a:bodyPr>
          <a:lstStyle/>
          <a:p>
            <a:pPr algn="l" indent="0" marL="0">
              <a:lnSpc>
                <a:spcPct val="85000"/>
              </a:lnSpc>
              <a:buNone/>
            </a:pPr>
            <a:r>
              <a:rPr lang="en-US" sz="4200" spc="-21" kern="100" dirty="0">
                <a:solidFill>
                  <a:srgbClr val="FFFFFF"/>
                </a:solidFill>
                <a:latin typeface="Overpass ExtraBold" pitchFamily="34" charset="0"/>
                <a:ea typeface="Overpass ExtraBold" pitchFamily="34" charset="-122"/>
                <a:cs typeface="Overpass ExtraBold" pitchFamily="34" charset="-120"/>
              </a:rPr>
              <a:t>The design objectives turn risk into control</a:t>
            </a:r>
            <a:endParaRPr lang="en-US" sz="4200" dirty="0"/>
          </a:p>
        </p:txBody>
      </p:sp>
      <p:sp>
        <p:nvSpPr>
          <p:cNvPr id="5" name="Shape 3"/>
          <p:cNvSpPr/>
          <p:nvPr/>
        </p:nvSpPr>
        <p:spPr>
          <a:xfrm>
            <a:off x="330192" y="6098183"/>
            <a:ext cx="1822305" cy="328017"/>
          </a:xfrm>
          <a:prstGeom prst="roundRect">
            <a:avLst>
              <a:gd name="adj" fmla="val 22115"/>
            </a:avLst>
          </a:prstGeom>
          <a:solidFill>
            <a:srgbClr val="F8D8D3"/>
          </a:solidFill>
          <a:ln/>
        </p:spPr>
      </p:sp>
      <p:sp>
        <p:nvSpPr>
          <p:cNvPr id="6" name="Text 4"/>
          <p:cNvSpPr/>
          <p:nvPr/>
        </p:nvSpPr>
        <p:spPr>
          <a:xfrm>
            <a:off x="459669" y="6162873"/>
            <a:ext cx="2172935" cy="198636"/>
          </a:xfrm>
          <a:prstGeom prst="rect">
            <a:avLst/>
          </a:prstGeom>
          <a:noFill/>
          <a:ln/>
        </p:spPr>
        <p:txBody>
          <a:bodyPr wrap="none" lIns="0" tIns="0" rIns="0" bIns="0" rtlCol="0" anchor="t"/>
          <a:lstStyle/>
          <a:p>
            <a:pPr algn="l" indent="0" marL="0">
              <a:lnSpc>
                <a:spcPct val="96000"/>
              </a:lnSpc>
              <a:buNone/>
            </a:pPr>
            <a:r>
              <a:rPr lang="en-US" sz="1350" spc="14" kern="100" dirty="0">
                <a:solidFill>
                  <a:srgbClr val="14213D"/>
                </a:solidFill>
                <a:latin typeface="Overpass ExtraBold" pitchFamily="34" charset="0"/>
                <a:ea typeface="Overpass ExtraBold" pitchFamily="34" charset="-122"/>
                <a:cs typeface="Overpass ExtraBold" pitchFamily="34" charset="-120"/>
              </a:rPr>
              <a:t>Five control moves</a:t>
            </a:r>
            <a:endParaRPr lang="en-US" sz="1350" dirty="0"/>
          </a:p>
        </p:txBody>
      </p:sp>
      <p:sp>
        <p:nvSpPr>
          <p:cNvPr id="7" name="Shape 5"/>
          <p:cNvSpPr/>
          <p:nvPr/>
        </p:nvSpPr>
        <p:spPr>
          <a:xfrm>
            <a:off x="3781926" y="363339"/>
            <a:ext cx="8409769" cy="902593"/>
          </a:xfrm>
          <a:prstGeom prst="rect">
            <a:avLst/>
          </a:prstGeom>
          <a:noFill/>
          <a:ln w="25399">
            <a:solidFill>
              <a:srgbClr val="DEBEB9"/>
            </a:solidFill>
            <a:prstDash val="solid"/>
          </a:ln>
        </p:spPr>
      </p:sp>
      <p:sp>
        <p:nvSpPr>
          <p:cNvPr id="8" name="Shape 6"/>
          <p:cNvSpPr/>
          <p:nvPr/>
        </p:nvSpPr>
        <p:spPr>
          <a:xfrm>
            <a:off x="4023220" y="616347"/>
            <a:ext cx="408275" cy="408285"/>
          </a:xfrm>
          <a:prstGeom prst="ellipse">
            <a:avLst/>
          </a:prstGeom>
          <a:solidFill>
            <a:srgbClr val="D23A22"/>
          </a:solidFill>
          <a:ln/>
        </p:spPr>
      </p:sp>
      <p:sp>
        <p:nvSpPr>
          <p:cNvPr id="9" name="Text 7"/>
          <p:cNvSpPr/>
          <p:nvPr/>
        </p:nvSpPr>
        <p:spPr>
          <a:xfrm>
            <a:off x="4185141" y="712589"/>
            <a:ext cx="694018" cy="215900"/>
          </a:xfrm>
          <a:prstGeom prst="rect">
            <a:avLst/>
          </a:prstGeom>
          <a:noFill/>
          <a:ln/>
        </p:spPr>
        <p:txBody>
          <a:bodyPr wrap="none" lIns="0" tIns="0" rIns="0" bIns="0" rtlCol="0" anchor="t"/>
          <a:lstStyle/>
          <a:p>
            <a:pPr algn="l" indent="0" marL="0">
              <a:lnSpc>
                <a:spcPct val="83000"/>
              </a:lnSpc>
              <a:buNone/>
            </a:pPr>
            <a:r>
              <a:rPr lang="en-US" sz="1700" dirty="0">
                <a:solidFill>
                  <a:srgbClr val="FFFFFF"/>
                </a:solidFill>
                <a:latin typeface="Overpass SemiBold" pitchFamily="34" charset="0"/>
                <a:ea typeface="Overpass SemiBold" pitchFamily="34" charset="-122"/>
                <a:cs typeface="Overpass SemiBold" pitchFamily="34" charset="-120"/>
              </a:rPr>
              <a:t>1</a:t>
            </a:r>
            <a:endParaRPr lang="en-US" sz="1700" dirty="0"/>
          </a:p>
        </p:txBody>
      </p:sp>
      <p:sp>
        <p:nvSpPr>
          <p:cNvPr id="10" name="Text 8"/>
          <p:cNvSpPr/>
          <p:nvPr/>
        </p:nvSpPr>
        <p:spPr>
          <a:xfrm>
            <a:off x="4647389" y="604639"/>
            <a:ext cx="7303012" cy="349250"/>
          </a:xfrm>
          <a:prstGeom prst="rect">
            <a:avLst/>
          </a:prstGeom>
          <a:noFill/>
          <a:ln/>
        </p:spPr>
        <p:txBody>
          <a:bodyPr wrap="none" lIns="0" tIns="0" rIns="0" bIns="0" rtlCol="0" anchor="t"/>
          <a:lstStyle/>
          <a:p>
            <a:pPr algn="l" indent="0" marL="0">
              <a:lnSpc>
                <a:spcPct val="104000"/>
              </a:lnSpc>
              <a:buNone/>
            </a:pPr>
            <a:r>
              <a:rPr lang="en-US" sz="2200" b="1" dirty="0">
                <a:solidFill>
                  <a:srgbClr val="14213D"/>
                </a:solidFill>
                <a:latin typeface="Atkinson Hyperlegible Next Bold" pitchFamily="34" charset="0"/>
                <a:ea typeface="Atkinson Hyperlegible Next Bold" pitchFamily="34" charset="-122"/>
                <a:cs typeface="Atkinson Hyperlegible Next Bold" pitchFamily="34" charset="-120"/>
              </a:rPr>
              <a:t>Segment users and systems with VLANs</a:t>
            </a:r>
            <a:endParaRPr lang="en-US" sz="2200" dirty="0"/>
          </a:p>
        </p:txBody>
      </p:sp>
      <p:sp>
        <p:nvSpPr>
          <p:cNvPr id="11" name="Shape 9"/>
          <p:cNvSpPr/>
          <p:nvPr/>
        </p:nvSpPr>
        <p:spPr>
          <a:xfrm>
            <a:off x="3781926" y="1570732"/>
            <a:ext cx="8409769" cy="938510"/>
          </a:xfrm>
          <a:prstGeom prst="rect">
            <a:avLst/>
          </a:prstGeom>
          <a:noFill/>
          <a:ln w="25399">
            <a:solidFill>
              <a:srgbClr val="DEBEB9"/>
            </a:solidFill>
            <a:prstDash val="solid"/>
          </a:ln>
        </p:spPr>
      </p:sp>
      <p:sp>
        <p:nvSpPr>
          <p:cNvPr id="12" name="Shape 10"/>
          <p:cNvSpPr/>
          <p:nvPr/>
        </p:nvSpPr>
        <p:spPr>
          <a:xfrm>
            <a:off x="4023220" y="1812032"/>
            <a:ext cx="455899" cy="455910"/>
          </a:xfrm>
          <a:prstGeom prst="ellipse">
            <a:avLst/>
          </a:prstGeom>
          <a:solidFill>
            <a:srgbClr val="D23A22"/>
          </a:solidFill>
          <a:ln/>
        </p:spPr>
      </p:sp>
      <p:sp>
        <p:nvSpPr>
          <p:cNvPr id="13" name="Text 11"/>
          <p:cNvSpPr/>
          <p:nvPr/>
        </p:nvSpPr>
        <p:spPr>
          <a:xfrm>
            <a:off x="4185141" y="1932087"/>
            <a:ext cx="741642" cy="215900"/>
          </a:xfrm>
          <a:prstGeom prst="rect">
            <a:avLst/>
          </a:prstGeom>
          <a:noFill/>
          <a:ln/>
        </p:spPr>
        <p:txBody>
          <a:bodyPr wrap="none" lIns="0" tIns="0" rIns="0" bIns="0" rtlCol="0" anchor="t"/>
          <a:lstStyle/>
          <a:p>
            <a:pPr algn="l" indent="0" marL="0">
              <a:lnSpc>
                <a:spcPct val="83000"/>
              </a:lnSpc>
              <a:buNone/>
            </a:pPr>
            <a:r>
              <a:rPr lang="en-US" sz="1700" dirty="0">
                <a:solidFill>
                  <a:srgbClr val="FFFFFF"/>
                </a:solidFill>
                <a:latin typeface="Overpass SemiBold" pitchFamily="34" charset="0"/>
                <a:ea typeface="Overpass SemiBold" pitchFamily="34" charset="-122"/>
                <a:cs typeface="Overpass SemiBold" pitchFamily="34" charset="-120"/>
              </a:rPr>
              <a:t>2</a:t>
            </a:r>
            <a:endParaRPr lang="en-US" sz="1700" dirty="0"/>
          </a:p>
        </p:txBody>
      </p:sp>
      <p:sp>
        <p:nvSpPr>
          <p:cNvPr id="14" name="Text 12"/>
          <p:cNvSpPr/>
          <p:nvPr/>
        </p:nvSpPr>
        <p:spPr>
          <a:xfrm>
            <a:off x="4695013" y="1824137"/>
            <a:ext cx="7255388" cy="349250"/>
          </a:xfrm>
          <a:prstGeom prst="rect">
            <a:avLst/>
          </a:prstGeom>
          <a:noFill/>
          <a:ln/>
        </p:spPr>
        <p:txBody>
          <a:bodyPr wrap="none" lIns="0" tIns="0" rIns="0" bIns="0" rtlCol="0" anchor="t"/>
          <a:lstStyle/>
          <a:p>
            <a:pPr algn="l" indent="0" marL="0">
              <a:lnSpc>
                <a:spcPct val="104000"/>
              </a:lnSpc>
              <a:buNone/>
            </a:pPr>
            <a:r>
              <a:rPr lang="en-US" sz="2200" b="1" dirty="0">
                <a:solidFill>
                  <a:srgbClr val="14213D"/>
                </a:solidFill>
                <a:latin typeface="Atkinson Hyperlegible Next Bold" pitchFamily="34" charset="0"/>
                <a:ea typeface="Atkinson Hyperlegible Next Bold" pitchFamily="34" charset="-122"/>
                <a:cs typeface="Atkinson Hyperlegible Next Bold" pitchFamily="34" charset="-120"/>
              </a:rPr>
              <a:t>Secure inter-switch trunks and isolate guests</a:t>
            </a:r>
            <a:endParaRPr lang="en-US" sz="2200" dirty="0"/>
          </a:p>
        </p:txBody>
      </p:sp>
      <p:sp>
        <p:nvSpPr>
          <p:cNvPr id="15" name="Shape 13"/>
          <p:cNvSpPr/>
          <p:nvPr/>
        </p:nvSpPr>
        <p:spPr>
          <a:xfrm>
            <a:off x="3781926" y="2814042"/>
            <a:ext cx="8409769" cy="936129"/>
          </a:xfrm>
          <a:prstGeom prst="rect">
            <a:avLst/>
          </a:prstGeom>
          <a:noFill/>
          <a:ln w="25399">
            <a:solidFill>
              <a:srgbClr val="DEBEB9"/>
            </a:solidFill>
            <a:prstDash val="solid"/>
          </a:ln>
        </p:spPr>
      </p:sp>
      <p:sp>
        <p:nvSpPr>
          <p:cNvPr id="16" name="Shape 14"/>
          <p:cNvSpPr/>
          <p:nvPr/>
        </p:nvSpPr>
        <p:spPr>
          <a:xfrm>
            <a:off x="4023220" y="3055342"/>
            <a:ext cx="453518" cy="453529"/>
          </a:xfrm>
          <a:prstGeom prst="ellipse">
            <a:avLst/>
          </a:prstGeom>
          <a:solidFill>
            <a:srgbClr val="D23A22"/>
          </a:solidFill>
          <a:ln/>
        </p:spPr>
      </p:sp>
      <p:sp>
        <p:nvSpPr>
          <p:cNvPr id="17" name="Text 15"/>
          <p:cNvSpPr/>
          <p:nvPr/>
        </p:nvSpPr>
        <p:spPr>
          <a:xfrm>
            <a:off x="4185141" y="3174206"/>
            <a:ext cx="739260" cy="215900"/>
          </a:xfrm>
          <a:prstGeom prst="rect">
            <a:avLst/>
          </a:prstGeom>
          <a:noFill/>
          <a:ln/>
        </p:spPr>
        <p:txBody>
          <a:bodyPr wrap="none" lIns="0" tIns="0" rIns="0" bIns="0" rtlCol="0" anchor="t"/>
          <a:lstStyle/>
          <a:p>
            <a:pPr algn="l" indent="0" marL="0">
              <a:lnSpc>
                <a:spcPct val="83000"/>
              </a:lnSpc>
              <a:buNone/>
            </a:pPr>
            <a:r>
              <a:rPr lang="en-US" sz="1700" dirty="0">
                <a:solidFill>
                  <a:srgbClr val="FFFFFF"/>
                </a:solidFill>
                <a:latin typeface="Overpass SemiBold" pitchFamily="34" charset="0"/>
                <a:ea typeface="Overpass SemiBold" pitchFamily="34" charset="-122"/>
                <a:cs typeface="Overpass SemiBold" pitchFamily="34" charset="-120"/>
              </a:rPr>
              <a:t>3</a:t>
            </a:r>
            <a:endParaRPr lang="en-US" sz="1700" dirty="0"/>
          </a:p>
        </p:txBody>
      </p:sp>
      <p:sp>
        <p:nvSpPr>
          <p:cNvPr id="18" name="Text 16"/>
          <p:cNvSpPr/>
          <p:nvPr/>
        </p:nvSpPr>
        <p:spPr>
          <a:xfrm>
            <a:off x="4692632" y="3066256"/>
            <a:ext cx="7257769" cy="349250"/>
          </a:xfrm>
          <a:prstGeom prst="rect">
            <a:avLst/>
          </a:prstGeom>
          <a:noFill/>
          <a:ln/>
        </p:spPr>
        <p:txBody>
          <a:bodyPr wrap="none" lIns="0" tIns="0" rIns="0" bIns="0" rtlCol="0" anchor="t"/>
          <a:lstStyle/>
          <a:p>
            <a:pPr algn="l" indent="0" marL="0">
              <a:lnSpc>
                <a:spcPct val="104000"/>
              </a:lnSpc>
              <a:buNone/>
            </a:pPr>
            <a:r>
              <a:rPr lang="en-US" sz="2200" b="1" dirty="0">
                <a:solidFill>
                  <a:srgbClr val="14213D"/>
                </a:solidFill>
                <a:latin typeface="Atkinson Hyperlegible Next Bold" pitchFamily="34" charset="0"/>
                <a:ea typeface="Atkinson Hyperlegible Next Bold" pitchFamily="34" charset="-122"/>
                <a:cs typeface="Atkinson Hyperlegible Next Bold" pitchFamily="34" charset="-120"/>
              </a:rPr>
              <a:t>Enable controlled inter-VLAN communication</a:t>
            </a:r>
            <a:endParaRPr lang="en-US" sz="2200" dirty="0"/>
          </a:p>
        </p:txBody>
      </p:sp>
      <p:sp>
        <p:nvSpPr>
          <p:cNvPr id="19" name="Shape 17"/>
          <p:cNvSpPr/>
          <p:nvPr/>
        </p:nvSpPr>
        <p:spPr>
          <a:xfrm>
            <a:off x="3781926" y="4054971"/>
            <a:ext cx="8409769" cy="1195784"/>
          </a:xfrm>
          <a:prstGeom prst="rect">
            <a:avLst/>
          </a:prstGeom>
          <a:noFill/>
          <a:ln w="25399">
            <a:solidFill>
              <a:srgbClr val="DEBEB9"/>
            </a:solidFill>
            <a:prstDash val="solid"/>
          </a:ln>
        </p:spPr>
      </p:sp>
      <p:sp>
        <p:nvSpPr>
          <p:cNvPr id="20" name="Shape 18"/>
          <p:cNvSpPr/>
          <p:nvPr/>
        </p:nvSpPr>
        <p:spPr>
          <a:xfrm>
            <a:off x="4023220" y="4296271"/>
            <a:ext cx="461058" cy="461070"/>
          </a:xfrm>
          <a:prstGeom prst="ellipse">
            <a:avLst/>
          </a:prstGeom>
          <a:solidFill>
            <a:srgbClr val="D23A22"/>
          </a:solidFill>
          <a:ln/>
        </p:spPr>
      </p:sp>
      <p:sp>
        <p:nvSpPr>
          <p:cNvPr id="21" name="Text 19"/>
          <p:cNvSpPr/>
          <p:nvPr/>
        </p:nvSpPr>
        <p:spPr>
          <a:xfrm>
            <a:off x="4185141" y="4418905"/>
            <a:ext cx="746801" cy="215900"/>
          </a:xfrm>
          <a:prstGeom prst="rect">
            <a:avLst/>
          </a:prstGeom>
          <a:noFill/>
          <a:ln/>
        </p:spPr>
        <p:txBody>
          <a:bodyPr wrap="none" lIns="0" tIns="0" rIns="0" bIns="0" rtlCol="0" anchor="t"/>
          <a:lstStyle/>
          <a:p>
            <a:pPr algn="l" indent="0" marL="0">
              <a:lnSpc>
                <a:spcPct val="83000"/>
              </a:lnSpc>
              <a:buNone/>
            </a:pPr>
            <a:r>
              <a:rPr lang="en-US" sz="1700" dirty="0">
                <a:solidFill>
                  <a:srgbClr val="FFFFFF"/>
                </a:solidFill>
                <a:latin typeface="Overpass SemiBold" pitchFamily="34" charset="0"/>
                <a:ea typeface="Overpass SemiBold" pitchFamily="34" charset="-122"/>
                <a:cs typeface="Overpass SemiBold" pitchFamily="34" charset="-120"/>
              </a:rPr>
              <a:t>4</a:t>
            </a:r>
            <a:endParaRPr lang="en-US" sz="1700" dirty="0"/>
          </a:p>
        </p:txBody>
      </p:sp>
      <p:sp>
        <p:nvSpPr>
          <p:cNvPr id="22" name="Text 20"/>
          <p:cNvSpPr/>
          <p:nvPr/>
        </p:nvSpPr>
        <p:spPr>
          <a:xfrm>
            <a:off x="4700172" y="4310955"/>
            <a:ext cx="7250229" cy="698500"/>
          </a:xfrm>
          <a:prstGeom prst="rect">
            <a:avLst/>
          </a:prstGeom>
          <a:noFill/>
          <a:ln/>
        </p:spPr>
        <p:txBody>
          <a:bodyPr wrap="square" lIns="0" tIns="0" rIns="0" bIns="0" rtlCol="0" anchor="t">
            <a:normAutofit/>
          </a:bodyPr>
          <a:lstStyle/>
          <a:p>
            <a:pPr algn="l" indent="0" marL="0">
              <a:lnSpc>
                <a:spcPct val="104000"/>
              </a:lnSpc>
              <a:buNone/>
            </a:pPr>
            <a:r>
              <a:rPr lang="en-US" sz="2200" b="1" dirty="0">
                <a:solidFill>
                  <a:srgbClr val="14213D"/>
                </a:solidFill>
                <a:latin typeface="Atkinson Hyperlegible Next Bold" pitchFamily="34" charset="0"/>
                <a:ea typeface="Atkinson Hyperlegible Next Bold" pitchFamily="34" charset="-122"/>
                <a:cs typeface="Atkinson Hyperlegible Next Bold" pitchFamily="34" charset="-120"/>
              </a:rPr>
              <a:t>Prevent loops with STP and add resilience with EtherChannel</a:t>
            </a:r>
            <a:endParaRPr lang="en-US" sz="2200" dirty="0"/>
          </a:p>
        </p:txBody>
      </p:sp>
      <p:sp>
        <p:nvSpPr>
          <p:cNvPr id="23" name="Shape 21"/>
          <p:cNvSpPr/>
          <p:nvPr/>
        </p:nvSpPr>
        <p:spPr>
          <a:xfrm>
            <a:off x="3781926" y="5555555"/>
            <a:ext cx="8409769" cy="939105"/>
          </a:xfrm>
          <a:prstGeom prst="rect">
            <a:avLst/>
          </a:prstGeom>
          <a:noFill/>
          <a:ln w="25399">
            <a:solidFill>
              <a:srgbClr val="DEBEB9"/>
            </a:solidFill>
            <a:prstDash val="solid"/>
          </a:ln>
        </p:spPr>
      </p:sp>
      <p:sp>
        <p:nvSpPr>
          <p:cNvPr id="24" name="Shape 22"/>
          <p:cNvSpPr/>
          <p:nvPr/>
        </p:nvSpPr>
        <p:spPr>
          <a:xfrm>
            <a:off x="4023220" y="5796855"/>
            <a:ext cx="456494" cy="456505"/>
          </a:xfrm>
          <a:prstGeom prst="ellipse">
            <a:avLst/>
          </a:prstGeom>
          <a:solidFill>
            <a:srgbClr val="D23A22"/>
          </a:solidFill>
          <a:ln/>
        </p:spPr>
      </p:sp>
      <p:sp>
        <p:nvSpPr>
          <p:cNvPr id="25" name="Text 23"/>
          <p:cNvSpPr/>
          <p:nvPr/>
        </p:nvSpPr>
        <p:spPr>
          <a:xfrm>
            <a:off x="4185141" y="5917208"/>
            <a:ext cx="742237" cy="215900"/>
          </a:xfrm>
          <a:prstGeom prst="rect">
            <a:avLst/>
          </a:prstGeom>
          <a:noFill/>
          <a:ln/>
        </p:spPr>
        <p:txBody>
          <a:bodyPr wrap="none" lIns="0" tIns="0" rIns="0" bIns="0" rtlCol="0" anchor="t"/>
          <a:lstStyle/>
          <a:p>
            <a:pPr algn="l" indent="0" marL="0">
              <a:lnSpc>
                <a:spcPct val="83000"/>
              </a:lnSpc>
              <a:buNone/>
            </a:pPr>
            <a:r>
              <a:rPr lang="en-US" sz="1700" dirty="0">
                <a:solidFill>
                  <a:srgbClr val="FFFFFF"/>
                </a:solidFill>
                <a:latin typeface="Overpass SemiBold" pitchFamily="34" charset="0"/>
                <a:ea typeface="Overpass SemiBold" pitchFamily="34" charset="-122"/>
                <a:cs typeface="Overpass SemiBold" pitchFamily="34" charset="-120"/>
              </a:rPr>
              <a:t>5</a:t>
            </a:r>
            <a:endParaRPr lang="en-US" sz="1700" dirty="0"/>
          </a:p>
        </p:txBody>
      </p:sp>
      <p:sp>
        <p:nvSpPr>
          <p:cNvPr id="26" name="Text 24"/>
          <p:cNvSpPr/>
          <p:nvPr/>
        </p:nvSpPr>
        <p:spPr>
          <a:xfrm>
            <a:off x="4695608" y="5809258"/>
            <a:ext cx="7254793" cy="349250"/>
          </a:xfrm>
          <a:prstGeom prst="rect">
            <a:avLst/>
          </a:prstGeom>
          <a:noFill/>
          <a:ln/>
        </p:spPr>
        <p:txBody>
          <a:bodyPr wrap="none" lIns="0" tIns="0" rIns="0" bIns="0" rtlCol="0" anchor="t"/>
          <a:lstStyle/>
          <a:p>
            <a:pPr algn="l" indent="0" marL="0">
              <a:lnSpc>
                <a:spcPct val="104000"/>
              </a:lnSpc>
              <a:buNone/>
            </a:pPr>
            <a:r>
              <a:rPr lang="en-US" sz="2200" b="1" dirty="0">
                <a:solidFill>
                  <a:srgbClr val="14213D"/>
                </a:solidFill>
                <a:latin typeface="Atkinson Hyperlegible Next Bold" pitchFamily="34" charset="0"/>
                <a:ea typeface="Atkinson Hyperlegible Next Bold" pitchFamily="34" charset="-122"/>
                <a:cs typeface="Atkinson Hyperlegible Next Bold" pitchFamily="34" charset="-120"/>
              </a:rPr>
              <a:t>Harden access ports with port security</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1117798"/>
          </a:xfrm>
          <a:prstGeom prst="roundRect">
            <a:avLst>
              <a:gd name="adj" fmla="val 10907"/>
            </a:avLst>
          </a:prstGeom>
          <a:solidFill>
            <a:srgbClr val="14213D"/>
          </a:solidFill>
          <a:ln/>
        </p:spPr>
      </p:sp>
      <p:sp>
        <p:nvSpPr>
          <p:cNvPr id="3" name="Text 1"/>
          <p:cNvSpPr/>
          <p:nvPr/>
        </p:nvSpPr>
        <p:spPr>
          <a:xfrm>
            <a:off x="253994" y="177800"/>
            <a:ext cx="11937701" cy="198041"/>
          </a:xfrm>
          <a:prstGeom prst="rect">
            <a:avLst/>
          </a:prstGeom>
          <a:noFill/>
          <a:ln/>
        </p:spPr>
        <p:txBody>
          <a:bodyPr wrap="none" lIns="0" tIns="0" rIns="0" bIns="0" rtlCol="0" anchor="t"/>
          <a:lstStyle/>
          <a:p>
            <a:pPr algn="l" indent="0" marL="0">
              <a:lnSpc>
                <a:spcPct val="100000"/>
              </a:lnSpc>
              <a:buNone/>
            </a:pPr>
            <a:r>
              <a:rPr lang="en-US" sz="1300" b="1" spc="13" kern="100" dirty="0">
                <a:solidFill>
                  <a:srgbClr val="FFFFFF"/>
                </a:solidFill>
                <a:latin typeface="Atkinson Hyperlegible Next Bold" pitchFamily="34" charset="0"/>
                <a:ea typeface="Atkinson Hyperlegible Next Bold" pitchFamily="34" charset="-122"/>
                <a:cs typeface="Atkinson Hyperlegible Next Bold" pitchFamily="34" charset="-120"/>
              </a:rPr>
              <a:t>PHYSICAL TOPOLOGY</a:t>
            </a:r>
            <a:endParaRPr lang="en-US" sz="1300" dirty="0"/>
          </a:p>
        </p:txBody>
      </p:sp>
      <p:sp>
        <p:nvSpPr>
          <p:cNvPr id="4" name="Text 2"/>
          <p:cNvSpPr/>
          <p:nvPr/>
        </p:nvSpPr>
        <p:spPr>
          <a:xfrm>
            <a:off x="253994" y="461566"/>
            <a:ext cx="11683708" cy="377130"/>
          </a:xfrm>
          <a:prstGeom prst="rect">
            <a:avLst/>
          </a:prstGeom>
          <a:noFill/>
          <a:ln/>
        </p:spPr>
        <p:txBody>
          <a:bodyPr wrap="none" lIns="0" tIns="0" rIns="0" bIns="0" rtlCol="0" anchor="t"/>
          <a:lstStyle/>
          <a:p>
            <a:pPr algn="l" indent="0" marL="0">
              <a:lnSpc>
                <a:spcPct val="92000"/>
              </a:lnSpc>
              <a:buNone/>
            </a:pPr>
            <a:r>
              <a:rPr lang="en-US" sz="2700" spc="-13" kern="100" dirty="0">
                <a:solidFill>
                  <a:srgbClr val="FFFFFF"/>
                </a:solidFill>
                <a:latin typeface="Overpass ExtraBold" pitchFamily="34" charset="0"/>
                <a:ea typeface="Overpass ExtraBold" pitchFamily="34" charset="-122"/>
                <a:cs typeface="Overpass ExtraBold" pitchFamily="34" charset="-120"/>
              </a:rPr>
              <a:t>Three switches form a resilient triangle across the chain</a:t>
            </a:r>
            <a:endParaRPr lang="en-US" sz="2700" dirty="0"/>
          </a:p>
        </p:txBody>
      </p:sp>
      <p:pic>
        <p:nvPicPr>
          <p:cNvPr id="5" name="Image 0" descr="preencoded.png">    </p:cNvPr>
          <p:cNvPicPr>
            <a:picLocks noChangeAspect="1"/>
          </p:cNvPicPr>
          <p:nvPr/>
        </p:nvPicPr>
        <p:blipFill>
          <a:blip r:embed="rId1"/>
          <a:stretch>
            <a:fillRect/>
          </a:stretch>
        </p:blipFill>
        <p:spPr>
          <a:xfrm>
            <a:off x="507987" y="1981299"/>
            <a:ext cx="11175720" cy="431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1113135"/>
          </a:xfrm>
          <a:prstGeom prst="roundRect">
            <a:avLst>
              <a:gd name="adj" fmla="val 10953"/>
            </a:avLst>
          </a:prstGeom>
          <a:solidFill>
            <a:srgbClr val="14213D"/>
          </a:solidFill>
          <a:ln/>
        </p:spPr>
      </p:sp>
      <p:sp>
        <p:nvSpPr>
          <p:cNvPr id="3" name="Text 1"/>
          <p:cNvSpPr/>
          <p:nvPr/>
        </p:nvSpPr>
        <p:spPr>
          <a:xfrm>
            <a:off x="253994" y="177800"/>
            <a:ext cx="11937701" cy="198041"/>
          </a:xfrm>
          <a:prstGeom prst="rect">
            <a:avLst/>
          </a:prstGeom>
          <a:noFill/>
          <a:ln/>
        </p:spPr>
        <p:txBody>
          <a:bodyPr wrap="none" lIns="0" tIns="0" rIns="0" bIns="0" rtlCol="0" anchor="t"/>
          <a:lstStyle/>
          <a:p>
            <a:pPr algn="l" indent="0" marL="0">
              <a:lnSpc>
                <a:spcPct val="100000"/>
              </a:lnSpc>
              <a:buNone/>
            </a:pPr>
            <a:r>
              <a:rPr lang="en-US" sz="1300" b="1" spc="13" kern="100" dirty="0">
                <a:solidFill>
                  <a:srgbClr val="FFFFFF"/>
                </a:solidFill>
                <a:latin typeface="Atkinson Hyperlegible Next Bold" pitchFamily="34" charset="0"/>
                <a:ea typeface="Atkinson Hyperlegible Next Bold" pitchFamily="34" charset="-122"/>
                <a:cs typeface="Atkinson Hyperlegible Next Bold" pitchFamily="34" charset="-120"/>
              </a:rPr>
              <a:t>LOGICAL SEGMENTATION</a:t>
            </a:r>
            <a:endParaRPr lang="en-US" sz="1300" dirty="0"/>
          </a:p>
        </p:txBody>
      </p:sp>
      <p:sp>
        <p:nvSpPr>
          <p:cNvPr id="4" name="Text 2"/>
          <p:cNvSpPr/>
          <p:nvPr/>
        </p:nvSpPr>
        <p:spPr>
          <a:xfrm>
            <a:off x="253994" y="461566"/>
            <a:ext cx="11683708" cy="377130"/>
          </a:xfrm>
          <a:prstGeom prst="rect">
            <a:avLst/>
          </a:prstGeom>
          <a:noFill/>
          <a:ln/>
        </p:spPr>
        <p:txBody>
          <a:bodyPr wrap="none" lIns="0" tIns="0" rIns="0" bIns="0" rtlCol="0" anchor="t"/>
          <a:lstStyle/>
          <a:p>
            <a:pPr algn="l" indent="0" marL="0">
              <a:lnSpc>
                <a:spcPct val="92000"/>
              </a:lnSpc>
              <a:buNone/>
            </a:pPr>
            <a:r>
              <a:rPr lang="en-US" sz="2700" spc="-13" kern="100" dirty="0">
                <a:solidFill>
                  <a:srgbClr val="FFFFFF"/>
                </a:solidFill>
                <a:latin typeface="Overpass ExtraBold" pitchFamily="34" charset="0"/>
                <a:ea typeface="Overpass ExtraBold" pitchFamily="34" charset="-122"/>
                <a:cs typeface="Overpass ExtraBold" pitchFamily="34" charset="-120"/>
              </a:rPr>
              <a:t>Six VLANs separate business roles from guest traffic</a:t>
            </a:r>
            <a:endParaRPr lang="en-US" sz="27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07987" y="2078335"/>
          <a:ext cx="7589350" cy="914400"/>
        </p:xfrm>
        <a:graphic>
          <a:graphicData uri="http://schemas.openxmlformats.org/drawingml/2006/table">
            <a:tbl>
              <a:tblPr/>
              <a:tblGrid>
                <a:gridCol w="875683"/>
                <a:gridCol w="2043359"/>
                <a:gridCol w="4670308"/>
              </a:tblGrid>
              <a:tr h="487549">
                <a:tc>
                  <a:txBody>
                    <a:bodyPr/>
                    <a:lstStyle/>
                    <a:p>
                      <a:pPr algn="l" indent="0" marL="0">
                        <a:buNone/>
                      </a:pPr>
                      <a:r>
                        <a:rPr lang="en-US" sz="1700" dirty="0">
                          <a:solidFill>
                            <a:srgbClr val="FFFFFF"/>
                          </a:solidFill>
                          <a:latin typeface="Atkinson Hyperlegible Next" pitchFamily="34" charset="0"/>
                          <a:ea typeface="Atkinson Hyperlegible Next" pitchFamily="34" charset="-122"/>
                          <a:cs typeface="Atkinson Hyperlegible Next" pitchFamily="34" charset="-120"/>
                        </a:rPr>
                        <a:t>VLAN</a:t>
                      </a:r>
                      <a:endParaRPr lang="en-US" sz="1700" dirty="0">
                        <a:latin typeface="Atkinson Hyperlegible Next" charset="0"/>
                        <a:ea typeface="Atkinson Hyperlegible Next" charset="0"/>
                        <a:cs typeface="Atkinson Hyperlegible Next" charset="0"/>
                      </a:endParaRPr>
                    </a:p>
                  </a:txBody>
                  <a:tcPr marL="161921" marR="161921" marT="86358" marB="86358" anchor="ctr">
                    <a:lnL w="12700" cap="flat" cmpd="sng" algn="ctr">
                      <a:solidFill>
                        <a:srgbClr val="14213D"/>
                      </a:solidFill>
                      <a:prstDash val="solid"/>
                      <a:round/>
                      <a:headEnd type="none" w="med" len="med"/>
                      <a:tailEnd type="none" w="med" len="med"/>
                    </a:lnL>
                    <a:lnR w="12700" cap="flat" cmpd="sng" algn="ctr">
                      <a:solidFill>
                        <a:srgbClr val="14213D"/>
                      </a:solidFill>
                      <a:prstDash val="solid"/>
                      <a:round/>
                      <a:headEnd type="none" w="med" len="med"/>
                      <a:tailEnd type="none" w="med" len="med"/>
                    </a:lnR>
                    <a:lnT w="12700" cap="flat" cmpd="sng" algn="ctr">
                      <a:solidFill>
                        <a:srgbClr val="14213D"/>
                      </a:solidFill>
                      <a:prstDash val="solid"/>
                      <a:round/>
                      <a:headEnd type="none" w="med" len="med"/>
                      <a:tailEnd type="none" w="med" len="med"/>
                    </a:lnT>
                    <a:lnB w="12700" cap="flat" cmpd="sng" algn="ctr">
                      <a:solidFill>
                        <a:srgbClr val="C9D3E0"/>
                      </a:solidFill>
                      <a:prstDash val="solid"/>
                      <a:round/>
                      <a:headEnd type="none" w="med" len="med"/>
                      <a:tailEnd type="none" w="med" len="med"/>
                    </a:lnB>
                    <a:solidFill>
                      <a:srgbClr val="14213D"/>
                    </a:solidFill>
                  </a:tcPr>
                </a:tc>
                <a:tc>
                  <a:txBody>
                    <a:bodyPr/>
                    <a:lstStyle/>
                    <a:p>
                      <a:pPr algn="l" indent="0" marL="0">
                        <a:buNone/>
                      </a:pPr>
                      <a:r>
                        <a:rPr lang="en-US" sz="1700" dirty="0">
                          <a:solidFill>
                            <a:srgbClr val="FFFFFF"/>
                          </a:solidFill>
                          <a:latin typeface="Atkinson Hyperlegible Next" pitchFamily="34" charset="0"/>
                          <a:ea typeface="Atkinson Hyperlegible Next" pitchFamily="34" charset="-122"/>
                          <a:cs typeface="Atkinson Hyperlegible Next" pitchFamily="34" charset="-120"/>
                        </a:rPr>
                        <a:t>Name</a:t>
                      </a:r>
                      <a:endParaRPr lang="en-US" sz="1700" dirty="0">
                        <a:latin typeface="Atkinson Hyperlegible Next" charset="0"/>
                        <a:ea typeface="Atkinson Hyperlegible Next" charset="0"/>
                        <a:cs typeface="Atkinson Hyperlegible Next" charset="0"/>
                      </a:endParaRPr>
                    </a:p>
                  </a:txBody>
                  <a:tcPr marL="161921" marR="161921" marT="86358" marB="86358" anchor="ctr">
                    <a:lnL w="12700" cap="flat" cmpd="sng" algn="ctr">
                      <a:solidFill>
                        <a:srgbClr val="14213D"/>
                      </a:solidFill>
                      <a:prstDash val="solid"/>
                      <a:round/>
                      <a:headEnd type="none" w="med" len="med"/>
                      <a:tailEnd type="none" w="med" len="med"/>
                    </a:lnL>
                    <a:lnR w="12700" cap="flat" cmpd="sng" algn="ctr">
                      <a:solidFill>
                        <a:srgbClr val="14213D"/>
                      </a:solidFill>
                      <a:prstDash val="solid"/>
                      <a:round/>
                      <a:headEnd type="none" w="med" len="med"/>
                      <a:tailEnd type="none" w="med" len="med"/>
                    </a:lnR>
                    <a:lnT w="12700" cap="flat" cmpd="sng" algn="ctr">
                      <a:solidFill>
                        <a:srgbClr val="14213D"/>
                      </a:solidFill>
                      <a:prstDash val="solid"/>
                      <a:round/>
                      <a:headEnd type="none" w="med" len="med"/>
                      <a:tailEnd type="none" w="med" len="med"/>
                    </a:lnT>
                    <a:lnB w="12700" cap="flat" cmpd="sng" algn="ctr">
                      <a:solidFill>
                        <a:srgbClr val="C9D3E0"/>
                      </a:solidFill>
                      <a:prstDash val="solid"/>
                      <a:round/>
                      <a:headEnd type="none" w="med" len="med"/>
                      <a:tailEnd type="none" w="med" len="med"/>
                    </a:lnB>
                    <a:solidFill>
                      <a:srgbClr val="14213D"/>
                    </a:solidFill>
                  </a:tcPr>
                </a:tc>
                <a:tc>
                  <a:txBody>
                    <a:bodyPr/>
                    <a:lstStyle/>
                    <a:p>
                      <a:pPr algn="l" indent="0" marL="0">
                        <a:buNone/>
                      </a:pPr>
                      <a:r>
                        <a:rPr lang="en-US" sz="1700" dirty="0">
                          <a:solidFill>
                            <a:srgbClr val="FFFFFF"/>
                          </a:solidFill>
                          <a:latin typeface="Atkinson Hyperlegible Next" pitchFamily="34" charset="0"/>
                          <a:ea typeface="Atkinson Hyperlegible Next" pitchFamily="34" charset="-122"/>
                          <a:cs typeface="Atkinson Hyperlegible Next" pitchFamily="34" charset="-120"/>
                        </a:rPr>
                        <a:t>Purpose</a:t>
                      </a:r>
                      <a:endParaRPr lang="en-US" sz="1700" dirty="0">
                        <a:latin typeface="Atkinson Hyperlegible Next" charset="0"/>
                        <a:ea typeface="Atkinson Hyperlegible Next" charset="0"/>
                        <a:cs typeface="Atkinson Hyperlegible Next" charset="0"/>
                      </a:endParaRPr>
                    </a:p>
                  </a:txBody>
                  <a:tcPr marL="161921" marR="161921" marT="86358" marB="86358" anchor="ctr">
                    <a:lnL w="12700" cap="flat" cmpd="sng" algn="ctr">
                      <a:solidFill>
                        <a:srgbClr val="14213D"/>
                      </a:solidFill>
                      <a:prstDash val="solid"/>
                      <a:round/>
                      <a:headEnd type="none" w="med" len="med"/>
                      <a:tailEnd type="none" w="med" len="med"/>
                    </a:lnL>
                    <a:lnR w="12700" cap="flat" cmpd="sng" algn="ctr">
                      <a:solidFill>
                        <a:srgbClr val="14213D"/>
                      </a:solidFill>
                      <a:prstDash val="solid"/>
                      <a:round/>
                      <a:headEnd type="none" w="med" len="med"/>
                      <a:tailEnd type="none" w="med" len="med"/>
                    </a:lnR>
                    <a:lnT w="12700" cap="flat" cmpd="sng" algn="ctr">
                      <a:solidFill>
                        <a:srgbClr val="14213D"/>
                      </a:solidFill>
                      <a:prstDash val="solid"/>
                      <a:round/>
                      <a:headEnd type="none" w="med" len="med"/>
                      <a:tailEnd type="none" w="med" len="med"/>
                    </a:lnT>
                    <a:lnB w="12700" cap="flat" cmpd="sng" algn="ctr">
                      <a:solidFill>
                        <a:srgbClr val="C9D3E0"/>
                      </a:solidFill>
                      <a:prstDash val="solid"/>
                      <a:round/>
                      <a:headEnd type="none" w="med" len="med"/>
                      <a:tailEnd type="none" w="med" len="med"/>
                    </a:lnB>
                    <a:solidFill>
                      <a:srgbClr val="14213D"/>
                    </a:solidFill>
                  </a:tcPr>
                </a:tc>
              </a:tr>
              <a:tr h="789762">
                <a:tc>
                  <a:txBody>
                    <a:bodyPr/>
                    <a:lstStyle/>
                    <a:p>
                      <a:pPr algn="l" indent="0" marL="0">
                        <a:buNone/>
                      </a:pPr>
                      <a:r>
                        <a:rPr lang="en-US" sz="1700" dirty="0">
                          <a:solidFill>
                            <a:srgbClr val="FFFFFF"/>
                          </a:solidFill>
                          <a:latin typeface="Atkinson Hyperlegible Next" pitchFamily="34" charset="0"/>
                          <a:ea typeface="Atkinson Hyperlegible Next" pitchFamily="34" charset="-122"/>
                          <a:cs typeface="Atkinson Hyperlegible Next" pitchFamily="34" charset="-120"/>
                        </a:rPr>
                        <a:t>13</a:t>
                      </a:r>
                      <a:endParaRPr lang="en-US" sz="1700" dirty="0">
                        <a:latin typeface="Atkinson Hyperlegible Next" charset="0"/>
                        <a:ea typeface="Atkinson Hyperlegible Next" charset="0"/>
                        <a:cs typeface="Atkinson Hyperlegible Next" charset="0"/>
                      </a:endParaRPr>
                    </a:p>
                  </a:txBody>
                  <a:tcPr marL="161921" marR="161921" marT="86358" marB="86358" anchor="ctr">
                    <a:lnL w="12700" cap="flat" cmpd="sng" algn="ctr">
                      <a:solidFill>
                        <a:srgbClr val="1F4FD1"/>
                      </a:solidFill>
                      <a:prstDash val="solid"/>
                      <a:round/>
                      <a:headEnd type="none" w="med" len="med"/>
                      <a:tailEnd type="none" w="med" len="med"/>
                    </a:lnL>
                    <a:lnR w="12700" cap="flat" cmpd="sng" algn="ctr">
                      <a:solidFill>
                        <a:srgbClr val="1F4FD1"/>
                      </a:solidFill>
                      <a:prstDash val="solid"/>
                      <a:round/>
                      <a:headEnd type="none" w="med" len="med"/>
                      <a:tailEnd type="none" w="med" len="med"/>
                    </a:lnR>
                    <a:lnT w="12700" cap="flat" cmpd="sng" algn="ctr">
                      <a:solidFill>
                        <a:srgbClr val="C9D3E0"/>
                      </a:solidFill>
                      <a:prstDash val="solid"/>
                      <a:round/>
                      <a:headEnd type="none" w="med" len="med"/>
                      <a:tailEnd type="none" w="med" len="med"/>
                    </a:lnT>
                    <a:lnB w="12700" cap="flat" cmpd="sng" algn="ctr">
                      <a:solidFill>
                        <a:srgbClr val="C9D3E0"/>
                      </a:solidFill>
                      <a:prstDash val="solid"/>
                      <a:round/>
                      <a:headEnd type="none" w="med" len="med"/>
                      <a:tailEnd type="none" w="med" len="med"/>
                    </a:lnB>
                    <a:solidFill>
                      <a:srgbClr val="1F4FD1"/>
                    </a:solidFill>
                  </a:tcPr>
                </a:tc>
                <a:tc>
                  <a:txBody>
                    <a:bodyPr/>
                    <a:lstStyle/>
                    <a:p>
                      <a:pPr algn="l" indent="0" marL="0">
                        <a:buNone/>
                      </a:pPr>
                      <a:r>
                        <a:rPr lang="en-US" sz="1700" b="1" dirty="0">
                          <a:solidFill>
                            <a:srgbClr val="14213D"/>
                          </a:solidFill>
                          <a:latin typeface="Atkinson Hyperlegible Next" pitchFamily="34" charset="0"/>
                          <a:ea typeface="Atkinson Hyperlegible Next" pitchFamily="34" charset="-122"/>
                          <a:cs typeface="Atkinson Hyperlegible Next" pitchFamily="34" charset="-120"/>
                        </a:rPr>
                        <a:t>Provenance-Systems</a:t>
                      </a:r>
                      <a:endParaRPr lang="en-US" sz="1700" dirty="0">
                        <a:latin typeface="Atkinson Hyperlegible Next" charset="0"/>
                        <a:ea typeface="Atkinson Hyperlegible Next" charset="0"/>
                        <a:cs typeface="Atkinson Hyperlegible Next" charset="0"/>
                      </a:endParaRPr>
                    </a:p>
                  </a:txBody>
                  <a:tcPr marL="161921" marR="161921" marT="86358" marB="86358" anchor="ctr">
                    <a:lnL w="12700" cap="flat" cmpd="sng" algn="ctr">
                      <a:solidFill>
                        <a:srgbClr val="F7FAFC"/>
                      </a:solidFill>
                      <a:prstDash val="solid"/>
                      <a:round/>
                      <a:headEnd type="none" w="med" len="med"/>
                      <a:tailEnd type="none" w="med" len="med"/>
                    </a:lnL>
                    <a:lnR w="12700" cap="flat" cmpd="sng" algn="ctr">
                      <a:solidFill>
                        <a:srgbClr val="F7FAFC"/>
                      </a:solidFill>
                      <a:prstDash val="solid"/>
                      <a:round/>
                      <a:headEnd type="none" w="med" len="med"/>
                      <a:tailEnd type="none" w="med" len="med"/>
                    </a:lnR>
                    <a:lnT w="12700" cap="flat" cmpd="sng" algn="ctr">
                      <a:solidFill>
                        <a:srgbClr val="C9D3E0"/>
                      </a:solidFill>
                      <a:prstDash val="solid"/>
                      <a:round/>
                      <a:headEnd type="none" w="med" len="med"/>
                      <a:tailEnd type="none" w="med" len="med"/>
                    </a:lnT>
                    <a:lnB w="12700" cap="flat" cmpd="sng" algn="ctr">
                      <a:solidFill>
                        <a:srgbClr val="C9D3E0"/>
                      </a:solidFill>
                      <a:prstDash val="solid"/>
                      <a:round/>
                      <a:headEnd type="none" w="med" len="med"/>
                      <a:tailEnd type="none" w="med" len="med"/>
                    </a:lnB>
                  </a:tcPr>
                </a:tc>
                <a:tc>
                  <a:txBody>
                    <a:bodyPr/>
                    <a:lstStyle/>
                    <a:p>
                      <a:pPr algn="l" indent="0" marL="0">
                        <a:buNone/>
                      </a:pPr>
                      <a:r>
                        <a:rPr lang="en-US" sz="1700" dirty="0">
                          <a:solidFill>
                            <a:srgbClr val="14213D"/>
                          </a:solidFill>
                          <a:latin typeface="Atkinson Hyperlegible Next" pitchFamily="34" charset="0"/>
                          <a:ea typeface="Atkinson Hyperlegible Next" pitchFamily="34" charset="-122"/>
                          <a:cs typeface="Atkinson Hyperlegible Next" pitchFamily="34" charset="-120"/>
                        </a:rPr>
                        <a:t>Rare-book provenance, catalog, and archive systems</a:t>
                      </a:r>
                      <a:endParaRPr lang="en-US" sz="1700" dirty="0">
                        <a:latin typeface="Atkinson Hyperlegible Next" charset="0"/>
                        <a:ea typeface="Atkinson Hyperlegible Next" charset="0"/>
                        <a:cs typeface="Atkinson Hyperlegible Next" charset="0"/>
                      </a:endParaRPr>
                    </a:p>
                  </a:txBody>
                  <a:tcPr marL="161921" marR="161921" marT="86358" marB="86358" anchor="ctr">
                    <a:lnL w="12700" cap="flat" cmpd="sng" algn="ctr">
                      <a:solidFill>
                        <a:srgbClr val="F7FAFC"/>
                      </a:solidFill>
                      <a:prstDash val="solid"/>
                      <a:round/>
                      <a:headEnd type="none" w="med" len="med"/>
                      <a:tailEnd type="none" w="med" len="med"/>
                    </a:lnL>
                    <a:lnR w="12700" cap="flat" cmpd="sng" algn="ctr">
                      <a:solidFill>
                        <a:srgbClr val="F7FAFC"/>
                      </a:solidFill>
                      <a:prstDash val="solid"/>
                      <a:round/>
                      <a:headEnd type="none" w="med" len="med"/>
                      <a:tailEnd type="none" w="med" len="med"/>
                    </a:lnR>
                    <a:lnT w="12700" cap="flat" cmpd="sng" algn="ctr">
                      <a:solidFill>
                        <a:srgbClr val="C9D3E0"/>
                      </a:solidFill>
                      <a:prstDash val="solid"/>
                      <a:round/>
                      <a:headEnd type="none" w="med" len="med"/>
                      <a:tailEnd type="none" w="med" len="med"/>
                    </a:lnT>
                    <a:lnB w="12700" cap="flat" cmpd="sng" algn="ctr">
                      <a:solidFill>
                        <a:srgbClr val="C9D3E0"/>
                      </a:solidFill>
                      <a:prstDash val="solid"/>
                      <a:round/>
                      <a:headEnd type="none" w="med" len="med"/>
                      <a:tailEnd type="none" w="med" len="med"/>
                    </a:lnB>
                  </a:tcPr>
                </a:tc>
              </a:tr>
              <a:tr h="487549">
                <a:tc>
                  <a:txBody>
                    <a:bodyPr/>
                    <a:lstStyle/>
                    <a:p>
                      <a:pPr algn="l" indent="0" marL="0">
                        <a:buNone/>
                      </a:pPr>
                      <a:r>
                        <a:rPr lang="en-US" sz="1700" dirty="0">
                          <a:solidFill>
                            <a:srgbClr val="FFFFFF"/>
                          </a:solidFill>
                          <a:latin typeface="Atkinson Hyperlegible Next" pitchFamily="34" charset="0"/>
                          <a:ea typeface="Atkinson Hyperlegible Next" pitchFamily="34" charset="-122"/>
                          <a:cs typeface="Atkinson Hyperlegible Next" pitchFamily="34" charset="-120"/>
                        </a:rPr>
                        <a:t>23</a:t>
                      </a:r>
                      <a:endParaRPr lang="en-US" sz="1700" dirty="0">
                        <a:latin typeface="Atkinson Hyperlegible Next" charset="0"/>
                        <a:ea typeface="Atkinson Hyperlegible Next" charset="0"/>
                        <a:cs typeface="Atkinson Hyperlegible Next" charset="0"/>
                      </a:endParaRPr>
                    </a:p>
                  </a:txBody>
                  <a:tcPr marL="161921" marR="161921" marT="86358" marB="86358" anchor="ctr">
                    <a:lnL w="12700" cap="flat" cmpd="sng" algn="ctr">
                      <a:solidFill>
                        <a:srgbClr val="178463"/>
                      </a:solidFill>
                      <a:prstDash val="solid"/>
                      <a:round/>
                      <a:headEnd type="none" w="med" len="med"/>
                      <a:tailEnd type="none" w="med" len="med"/>
                    </a:lnL>
                    <a:lnR w="12700" cap="flat" cmpd="sng" algn="ctr">
                      <a:solidFill>
                        <a:srgbClr val="178463"/>
                      </a:solidFill>
                      <a:prstDash val="solid"/>
                      <a:round/>
                      <a:headEnd type="none" w="med" len="med"/>
                      <a:tailEnd type="none" w="med" len="med"/>
                    </a:lnR>
                    <a:lnT w="12700" cap="flat" cmpd="sng" algn="ctr">
                      <a:solidFill>
                        <a:srgbClr val="C9D3E0"/>
                      </a:solidFill>
                      <a:prstDash val="solid"/>
                      <a:round/>
                      <a:headEnd type="none" w="med" len="med"/>
                      <a:tailEnd type="none" w="med" len="med"/>
                    </a:lnT>
                    <a:lnB w="12700" cap="flat" cmpd="sng" algn="ctr">
                      <a:solidFill>
                        <a:srgbClr val="C9D3E0"/>
                      </a:solidFill>
                      <a:prstDash val="solid"/>
                      <a:round/>
                      <a:headEnd type="none" w="med" len="med"/>
                      <a:tailEnd type="none" w="med" len="med"/>
                    </a:lnB>
                    <a:solidFill>
                      <a:srgbClr val="178463"/>
                    </a:solidFill>
                  </a:tcPr>
                </a:tc>
                <a:tc>
                  <a:txBody>
                    <a:bodyPr/>
                    <a:lstStyle/>
                    <a:p>
                      <a:pPr algn="l" indent="0" marL="0">
                        <a:buNone/>
                      </a:pPr>
                      <a:r>
                        <a:rPr lang="en-US" sz="1700" b="1" dirty="0">
                          <a:solidFill>
                            <a:srgbClr val="14213D"/>
                          </a:solidFill>
                          <a:latin typeface="Atkinson Hyperlegible Next" pitchFamily="34" charset="0"/>
                          <a:ea typeface="Atkinson Hyperlegible Next" pitchFamily="34" charset="-122"/>
                          <a:cs typeface="Atkinson Hyperlegible Next" pitchFamily="34" charset="-120"/>
                        </a:rPr>
                        <a:t>Staff-POS</a:t>
                      </a:r>
                      <a:endParaRPr lang="en-US" sz="1700" dirty="0">
                        <a:latin typeface="Atkinson Hyperlegible Next" charset="0"/>
                        <a:ea typeface="Atkinson Hyperlegible Next" charset="0"/>
                        <a:cs typeface="Atkinson Hyperlegible Next" charset="0"/>
                      </a:endParaRPr>
                    </a:p>
                  </a:txBody>
                  <a:tcPr marL="161921" marR="161921" marT="86358" marB="86358" anchor="ctr">
                    <a:lnL w="12700" cap="flat" cmpd="sng" algn="ctr">
                      <a:solidFill>
                        <a:srgbClr val="F7FAFC"/>
                      </a:solidFill>
                      <a:prstDash val="solid"/>
                      <a:round/>
                      <a:headEnd type="none" w="med" len="med"/>
                      <a:tailEnd type="none" w="med" len="med"/>
                    </a:lnL>
                    <a:lnR w="12700" cap="flat" cmpd="sng" algn="ctr">
                      <a:solidFill>
                        <a:srgbClr val="F7FAFC"/>
                      </a:solidFill>
                      <a:prstDash val="solid"/>
                      <a:round/>
                      <a:headEnd type="none" w="med" len="med"/>
                      <a:tailEnd type="none" w="med" len="med"/>
                    </a:lnR>
                    <a:lnT w="12700" cap="flat" cmpd="sng" algn="ctr">
                      <a:solidFill>
                        <a:srgbClr val="C9D3E0"/>
                      </a:solidFill>
                      <a:prstDash val="solid"/>
                      <a:round/>
                      <a:headEnd type="none" w="med" len="med"/>
                      <a:tailEnd type="none" w="med" len="med"/>
                    </a:lnT>
                    <a:lnB w="12700" cap="flat" cmpd="sng" algn="ctr">
                      <a:solidFill>
                        <a:srgbClr val="C9D3E0"/>
                      </a:solidFill>
                      <a:prstDash val="solid"/>
                      <a:round/>
                      <a:headEnd type="none" w="med" len="med"/>
                      <a:tailEnd type="none" w="med" len="med"/>
                    </a:lnB>
                  </a:tcPr>
                </a:tc>
                <a:tc>
                  <a:txBody>
                    <a:bodyPr/>
                    <a:lstStyle/>
                    <a:p>
                      <a:pPr algn="l" indent="0" marL="0">
                        <a:buNone/>
                      </a:pPr>
                      <a:r>
                        <a:rPr lang="en-US" sz="1700" dirty="0">
                          <a:solidFill>
                            <a:srgbClr val="14213D"/>
                          </a:solidFill>
                          <a:latin typeface="Atkinson Hyperlegible Next" pitchFamily="34" charset="0"/>
                          <a:ea typeface="Atkinson Hyperlegible Next" pitchFamily="34" charset="-122"/>
                          <a:cs typeface="Atkinson Hyperlegible Next" pitchFamily="34" charset="-120"/>
                        </a:rPr>
                        <a:t>Staff workstations and point-of-sale systems</a:t>
                      </a:r>
                      <a:endParaRPr lang="en-US" sz="1700" dirty="0">
                        <a:latin typeface="Atkinson Hyperlegible Next" charset="0"/>
                        <a:ea typeface="Atkinson Hyperlegible Next" charset="0"/>
                        <a:cs typeface="Atkinson Hyperlegible Next" charset="0"/>
                      </a:endParaRPr>
                    </a:p>
                  </a:txBody>
                  <a:tcPr marL="161921" marR="161921" marT="86358" marB="86358" anchor="ctr">
                    <a:lnL w="12700" cap="flat" cmpd="sng" algn="ctr">
                      <a:solidFill>
                        <a:srgbClr val="F7FAFC"/>
                      </a:solidFill>
                      <a:prstDash val="solid"/>
                      <a:round/>
                      <a:headEnd type="none" w="med" len="med"/>
                      <a:tailEnd type="none" w="med" len="med"/>
                    </a:lnL>
                    <a:lnR w="12700" cap="flat" cmpd="sng" algn="ctr">
                      <a:solidFill>
                        <a:srgbClr val="F7FAFC"/>
                      </a:solidFill>
                      <a:prstDash val="solid"/>
                      <a:round/>
                      <a:headEnd type="none" w="med" len="med"/>
                      <a:tailEnd type="none" w="med" len="med"/>
                    </a:lnR>
                    <a:lnT w="12700" cap="flat" cmpd="sng" algn="ctr">
                      <a:solidFill>
                        <a:srgbClr val="C9D3E0"/>
                      </a:solidFill>
                      <a:prstDash val="solid"/>
                      <a:round/>
                      <a:headEnd type="none" w="med" len="med"/>
                      <a:tailEnd type="none" w="med" len="med"/>
                    </a:lnT>
                    <a:lnB w="12700" cap="flat" cmpd="sng" algn="ctr">
                      <a:solidFill>
                        <a:srgbClr val="C9D3E0"/>
                      </a:solidFill>
                      <a:prstDash val="solid"/>
                      <a:round/>
                      <a:headEnd type="none" w="med" len="med"/>
                      <a:tailEnd type="none" w="med" len="med"/>
                    </a:lnB>
                  </a:tcPr>
                </a:tc>
              </a:tr>
              <a:tr h="487549">
                <a:tc>
                  <a:txBody>
                    <a:bodyPr/>
                    <a:lstStyle/>
                    <a:p>
                      <a:pPr algn="l" indent="0" marL="0">
                        <a:buNone/>
                      </a:pPr>
                      <a:r>
                        <a:rPr lang="en-US" sz="1700" dirty="0">
                          <a:solidFill>
                            <a:srgbClr val="FFFFFF"/>
                          </a:solidFill>
                          <a:latin typeface="Atkinson Hyperlegible Next" pitchFamily="34" charset="0"/>
                          <a:ea typeface="Atkinson Hyperlegible Next" pitchFamily="34" charset="-122"/>
                          <a:cs typeface="Atkinson Hyperlegible Next" pitchFamily="34" charset="-120"/>
                        </a:rPr>
                        <a:t>33</a:t>
                      </a:r>
                      <a:endParaRPr lang="en-US" sz="1700" dirty="0">
                        <a:latin typeface="Atkinson Hyperlegible Next" charset="0"/>
                        <a:ea typeface="Atkinson Hyperlegible Next" charset="0"/>
                        <a:cs typeface="Atkinson Hyperlegible Next" charset="0"/>
                      </a:endParaRPr>
                    </a:p>
                  </a:txBody>
                  <a:tcPr marL="161921" marR="161921" marT="86358" marB="86358" anchor="ctr">
                    <a:lnL w="12700" cap="flat" cmpd="sng" algn="ctr">
                      <a:solidFill>
                        <a:srgbClr val="7B4FD6"/>
                      </a:solidFill>
                      <a:prstDash val="solid"/>
                      <a:round/>
                      <a:headEnd type="none" w="med" len="med"/>
                      <a:tailEnd type="none" w="med" len="med"/>
                    </a:lnL>
                    <a:lnR w="12700" cap="flat" cmpd="sng" algn="ctr">
                      <a:solidFill>
                        <a:srgbClr val="7B4FD6"/>
                      </a:solidFill>
                      <a:prstDash val="solid"/>
                      <a:round/>
                      <a:headEnd type="none" w="med" len="med"/>
                      <a:tailEnd type="none" w="med" len="med"/>
                    </a:lnR>
                    <a:lnT w="12700" cap="flat" cmpd="sng" algn="ctr">
                      <a:solidFill>
                        <a:srgbClr val="C9D3E0"/>
                      </a:solidFill>
                      <a:prstDash val="solid"/>
                      <a:round/>
                      <a:headEnd type="none" w="med" len="med"/>
                      <a:tailEnd type="none" w="med" len="med"/>
                    </a:lnT>
                    <a:lnB w="12700" cap="flat" cmpd="sng" algn="ctr">
                      <a:solidFill>
                        <a:srgbClr val="C9D3E0"/>
                      </a:solidFill>
                      <a:prstDash val="solid"/>
                      <a:round/>
                      <a:headEnd type="none" w="med" len="med"/>
                      <a:tailEnd type="none" w="med" len="med"/>
                    </a:lnB>
                    <a:solidFill>
                      <a:srgbClr val="7B4FD6"/>
                    </a:solidFill>
                  </a:tcPr>
                </a:tc>
                <a:tc>
                  <a:txBody>
                    <a:bodyPr/>
                    <a:lstStyle/>
                    <a:p>
                      <a:pPr algn="l" indent="0" marL="0">
                        <a:buNone/>
                      </a:pPr>
                      <a:r>
                        <a:rPr lang="en-US" sz="1700" b="1" dirty="0">
                          <a:solidFill>
                            <a:srgbClr val="14213D"/>
                          </a:solidFill>
                          <a:latin typeface="Atkinson Hyperlegible Next" pitchFamily="34" charset="0"/>
                          <a:ea typeface="Atkinson Hyperlegible Next" pitchFamily="34" charset="-122"/>
                          <a:cs typeface="Atkinson Hyperlegible Next" pitchFamily="34" charset="-120"/>
                        </a:rPr>
                        <a:t>Admin</a:t>
                      </a:r>
                      <a:endParaRPr lang="en-US" sz="1700" dirty="0">
                        <a:latin typeface="Atkinson Hyperlegible Next" charset="0"/>
                        <a:ea typeface="Atkinson Hyperlegible Next" charset="0"/>
                        <a:cs typeface="Atkinson Hyperlegible Next" charset="0"/>
                      </a:endParaRPr>
                    </a:p>
                  </a:txBody>
                  <a:tcPr marL="161921" marR="161921" marT="86358" marB="86358" anchor="ctr">
                    <a:lnL w="12700" cap="flat" cmpd="sng" algn="ctr">
                      <a:solidFill>
                        <a:srgbClr val="F7FAFC"/>
                      </a:solidFill>
                      <a:prstDash val="solid"/>
                      <a:round/>
                      <a:headEnd type="none" w="med" len="med"/>
                      <a:tailEnd type="none" w="med" len="med"/>
                    </a:lnL>
                    <a:lnR w="12700" cap="flat" cmpd="sng" algn="ctr">
                      <a:solidFill>
                        <a:srgbClr val="F7FAFC"/>
                      </a:solidFill>
                      <a:prstDash val="solid"/>
                      <a:round/>
                      <a:headEnd type="none" w="med" len="med"/>
                      <a:tailEnd type="none" w="med" len="med"/>
                    </a:lnR>
                    <a:lnT w="12700" cap="flat" cmpd="sng" algn="ctr">
                      <a:solidFill>
                        <a:srgbClr val="C9D3E0"/>
                      </a:solidFill>
                      <a:prstDash val="solid"/>
                      <a:round/>
                      <a:headEnd type="none" w="med" len="med"/>
                      <a:tailEnd type="none" w="med" len="med"/>
                    </a:lnT>
                    <a:lnB w="12700" cap="flat" cmpd="sng" algn="ctr">
                      <a:solidFill>
                        <a:srgbClr val="C9D3E0"/>
                      </a:solidFill>
                      <a:prstDash val="solid"/>
                      <a:round/>
                      <a:headEnd type="none" w="med" len="med"/>
                      <a:tailEnd type="none" w="med" len="med"/>
                    </a:lnB>
                  </a:tcPr>
                </a:tc>
                <a:tc>
                  <a:txBody>
                    <a:bodyPr/>
                    <a:lstStyle/>
                    <a:p>
                      <a:pPr algn="l" indent="0" marL="0">
                        <a:buNone/>
                      </a:pPr>
                      <a:r>
                        <a:rPr lang="en-US" sz="1700" dirty="0">
                          <a:solidFill>
                            <a:srgbClr val="14213D"/>
                          </a:solidFill>
                          <a:latin typeface="Atkinson Hyperlegible Next" pitchFamily="34" charset="0"/>
                          <a:ea typeface="Atkinson Hyperlegible Next" pitchFamily="34" charset="-122"/>
                          <a:cs typeface="Atkinson Hyperlegible Next" pitchFamily="34" charset="-120"/>
                        </a:rPr>
                        <a:t>Administration and business operations</a:t>
                      </a:r>
                      <a:endParaRPr lang="en-US" sz="1700" dirty="0">
                        <a:latin typeface="Atkinson Hyperlegible Next" charset="0"/>
                        <a:ea typeface="Atkinson Hyperlegible Next" charset="0"/>
                        <a:cs typeface="Atkinson Hyperlegible Next" charset="0"/>
                      </a:endParaRPr>
                    </a:p>
                  </a:txBody>
                  <a:tcPr marL="161921" marR="161921" marT="86358" marB="86358" anchor="ctr">
                    <a:lnL w="12700" cap="flat" cmpd="sng" algn="ctr">
                      <a:solidFill>
                        <a:srgbClr val="F7FAFC"/>
                      </a:solidFill>
                      <a:prstDash val="solid"/>
                      <a:round/>
                      <a:headEnd type="none" w="med" len="med"/>
                      <a:tailEnd type="none" w="med" len="med"/>
                    </a:lnL>
                    <a:lnR w="12700" cap="flat" cmpd="sng" algn="ctr">
                      <a:solidFill>
                        <a:srgbClr val="F7FAFC"/>
                      </a:solidFill>
                      <a:prstDash val="solid"/>
                      <a:round/>
                      <a:headEnd type="none" w="med" len="med"/>
                      <a:tailEnd type="none" w="med" len="med"/>
                    </a:lnR>
                    <a:lnT w="12700" cap="flat" cmpd="sng" algn="ctr">
                      <a:solidFill>
                        <a:srgbClr val="C9D3E0"/>
                      </a:solidFill>
                      <a:prstDash val="solid"/>
                      <a:round/>
                      <a:headEnd type="none" w="med" len="med"/>
                      <a:tailEnd type="none" w="med" len="med"/>
                    </a:lnT>
                    <a:lnB w="12700" cap="flat" cmpd="sng" algn="ctr">
                      <a:solidFill>
                        <a:srgbClr val="C9D3E0"/>
                      </a:solidFill>
                      <a:prstDash val="solid"/>
                      <a:round/>
                      <a:headEnd type="none" w="med" len="med"/>
                      <a:tailEnd type="none" w="med" len="med"/>
                    </a:lnB>
                  </a:tcPr>
                </a:tc>
              </a:tr>
              <a:tr h="487549">
                <a:tc>
                  <a:txBody>
                    <a:bodyPr/>
                    <a:lstStyle/>
                    <a:p>
                      <a:pPr algn="l" indent="0" marL="0">
                        <a:buNone/>
                      </a:pPr>
                      <a:r>
                        <a:rPr lang="en-US" sz="1700" dirty="0">
                          <a:solidFill>
                            <a:srgbClr val="FFFFFF"/>
                          </a:solidFill>
                          <a:latin typeface="Atkinson Hyperlegible Next" pitchFamily="34" charset="0"/>
                          <a:ea typeface="Atkinson Hyperlegible Next" pitchFamily="34" charset="-122"/>
                          <a:cs typeface="Atkinson Hyperlegible Next" pitchFamily="34" charset="-120"/>
                        </a:rPr>
                        <a:t>43</a:t>
                      </a:r>
                      <a:endParaRPr lang="en-US" sz="1700" dirty="0">
                        <a:latin typeface="Atkinson Hyperlegible Next" charset="0"/>
                        <a:ea typeface="Atkinson Hyperlegible Next" charset="0"/>
                        <a:cs typeface="Atkinson Hyperlegible Next" charset="0"/>
                      </a:endParaRPr>
                    </a:p>
                  </a:txBody>
                  <a:tcPr marL="161921" marR="161921" marT="86358" marB="86358" anchor="ctr">
                    <a:lnL w="12700" cap="flat" cmpd="sng" algn="ctr">
                      <a:solidFill>
                        <a:srgbClr val="1F4FD1"/>
                      </a:solidFill>
                      <a:prstDash val="solid"/>
                      <a:round/>
                      <a:headEnd type="none" w="med" len="med"/>
                      <a:tailEnd type="none" w="med" len="med"/>
                    </a:lnL>
                    <a:lnR w="12700" cap="flat" cmpd="sng" algn="ctr">
                      <a:solidFill>
                        <a:srgbClr val="1F4FD1"/>
                      </a:solidFill>
                      <a:prstDash val="solid"/>
                      <a:round/>
                      <a:headEnd type="none" w="med" len="med"/>
                      <a:tailEnd type="none" w="med" len="med"/>
                    </a:lnR>
                    <a:lnT w="12700" cap="flat" cmpd="sng" algn="ctr">
                      <a:solidFill>
                        <a:srgbClr val="C9D3E0"/>
                      </a:solidFill>
                      <a:prstDash val="solid"/>
                      <a:round/>
                      <a:headEnd type="none" w="med" len="med"/>
                      <a:tailEnd type="none" w="med" len="med"/>
                    </a:lnT>
                    <a:lnB w="12700" cap="flat" cmpd="sng" algn="ctr">
                      <a:solidFill>
                        <a:srgbClr val="C9D3E0"/>
                      </a:solidFill>
                      <a:prstDash val="solid"/>
                      <a:round/>
                      <a:headEnd type="none" w="med" len="med"/>
                      <a:tailEnd type="none" w="med" len="med"/>
                    </a:lnB>
                    <a:solidFill>
                      <a:srgbClr val="1F4FD1"/>
                    </a:solidFill>
                  </a:tcPr>
                </a:tc>
                <a:tc>
                  <a:txBody>
                    <a:bodyPr/>
                    <a:lstStyle/>
                    <a:p>
                      <a:pPr algn="l" indent="0" marL="0">
                        <a:buNone/>
                      </a:pPr>
                      <a:r>
                        <a:rPr lang="en-US" sz="1700" b="1" dirty="0">
                          <a:solidFill>
                            <a:srgbClr val="14213D"/>
                          </a:solidFill>
                          <a:latin typeface="Atkinson Hyperlegible Next" pitchFamily="34" charset="0"/>
                          <a:ea typeface="Atkinson Hyperlegible Next" pitchFamily="34" charset="-122"/>
                          <a:cs typeface="Atkinson Hyperlegible Next" pitchFamily="34" charset="-120"/>
                        </a:rPr>
                        <a:t>IT-Mgmt</a:t>
                      </a:r>
                      <a:endParaRPr lang="en-US" sz="1700" dirty="0">
                        <a:latin typeface="Atkinson Hyperlegible Next" charset="0"/>
                        <a:ea typeface="Atkinson Hyperlegible Next" charset="0"/>
                        <a:cs typeface="Atkinson Hyperlegible Next" charset="0"/>
                      </a:endParaRPr>
                    </a:p>
                  </a:txBody>
                  <a:tcPr marL="161921" marR="161921" marT="86358" marB="86358" anchor="ctr">
                    <a:lnL w="12700" cap="flat" cmpd="sng" algn="ctr">
                      <a:solidFill>
                        <a:srgbClr val="F7FAFC"/>
                      </a:solidFill>
                      <a:prstDash val="solid"/>
                      <a:round/>
                      <a:headEnd type="none" w="med" len="med"/>
                      <a:tailEnd type="none" w="med" len="med"/>
                    </a:lnL>
                    <a:lnR w="12700" cap="flat" cmpd="sng" algn="ctr">
                      <a:solidFill>
                        <a:srgbClr val="F7FAFC"/>
                      </a:solidFill>
                      <a:prstDash val="solid"/>
                      <a:round/>
                      <a:headEnd type="none" w="med" len="med"/>
                      <a:tailEnd type="none" w="med" len="med"/>
                    </a:lnR>
                    <a:lnT w="12700" cap="flat" cmpd="sng" algn="ctr">
                      <a:solidFill>
                        <a:srgbClr val="C9D3E0"/>
                      </a:solidFill>
                      <a:prstDash val="solid"/>
                      <a:round/>
                      <a:headEnd type="none" w="med" len="med"/>
                      <a:tailEnd type="none" w="med" len="med"/>
                    </a:lnT>
                    <a:lnB w="12700" cap="flat" cmpd="sng" algn="ctr">
                      <a:solidFill>
                        <a:srgbClr val="C9D3E0"/>
                      </a:solidFill>
                      <a:prstDash val="solid"/>
                      <a:round/>
                      <a:headEnd type="none" w="med" len="med"/>
                      <a:tailEnd type="none" w="med" len="med"/>
                    </a:lnB>
                  </a:tcPr>
                </a:tc>
                <a:tc>
                  <a:txBody>
                    <a:bodyPr/>
                    <a:lstStyle/>
                    <a:p>
                      <a:pPr algn="l" indent="0" marL="0">
                        <a:buNone/>
                      </a:pPr>
                      <a:r>
                        <a:rPr lang="en-US" sz="1700" dirty="0">
                          <a:solidFill>
                            <a:srgbClr val="14213D"/>
                          </a:solidFill>
                          <a:latin typeface="Atkinson Hyperlegible Next" pitchFamily="34" charset="0"/>
                          <a:ea typeface="Atkinson Hyperlegible Next" pitchFamily="34" charset="-122"/>
                          <a:cs typeface="Atkinson Hyperlegible Next" pitchFamily="34" charset="-120"/>
                        </a:rPr>
                        <a:t>Network and infrastructure management</a:t>
                      </a:r>
                      <a:endParaRPr lang="en-US" sz="1700" dirty="0">
                        <a:latin typeface="Atkinson Hyperlegible Next" charset="0"/>
                        <a:ea typeface="Atkinson Hyperlegible Next" charset="0"/>
                        <a:cs typeface="Atkinson Hyperlegible Next" charset="0"/>
                      </a:endParaRPr>
                    </a:p>
                  </a:txBody>
                  <a:tcPr marL="161921" marR="161921" marT="86358" marB="86358" anchor="ctr">
                    <a:lnL w="12700" cap="flat" cmpd="sng" algn="ctr">
                      <a:solidFill>
                        <a:srgbClr val="F7FAFC"/>
                      </a:solidFill>
                      <a:prstDash val="solid"/>
                      <a:round/>
                      <a:headEnd type="none" w="med" len="med"/>
                      <a:tailEnd type="none" w="med" len="med"/>
                    </a:lnL>
                    <a:lnR w="12700" cap="flat" cmpd="sng" algn="ctr">
                      <a:solidFill>
                        <a:srgbClr val="F7FAFC"/>
                      </a:solidFill>
                      <a:prstDash val="solid"/>
                      <a:round/>
                      <a:headEnd type="none" w="med" len="med"/>
                      <a:tailEnd type="none" w="med" len="med"/>
                    </a:lnR>
                    <a:lnT w="12700" cap="flat" cmpd="sng" algn="ctr">
                      <a:solidFill>
                        <a:srgbClr val="C9D3E0"/>
                      </a:solidFill>
                      <a:prstDash val="solid"/>
                      <a:round/>
                      <a:headEnd type="none" w="med" len="med"/>
                      <a:tailEnd type="none" w="med" len="med"/>
                    </a:lnT>
                    <a:lnB w="12700" cap="flat" cmpd="sng" algn="ctr">
                      <a:solidFill>
                        <a:srgbClr val="C9D3E0"/>
                      </a:solidFill>
                      <a:prstDash val="solid"/>
                      <a:round/>
                      <a:headEnd type="none" w="med" len="med"/>
                      <a:tailEnd type="none" w="med" len="med"/>
                    </a:lnB>
                  </a:tcPr>
                </a:tc>
              </a:tr>
              <a:tr h="487549">
                <a:tc>
                  <a:txBody>
                    <a:bodyPr/>
                    <a:lstStyle/>
                    <a:p>
                      <a:pPr algn="l" indent="0" marL="0">
                        <a:buNone/>
                      </a:pPr>
                      <a:r>
                        <a:rPr lang="en-US" sz="1700" dirty="0">
                          <a:solidFill>
                            <a:srgbClr val="FFFFFF"/>
                          </a:solidFill>
                          <a:latin typeface="Atkinson Hyperlegible Next" pitchFamily="34" charset="0"/>
                          <a:ea typeface="Atkinson Hyperlegible Next" pitchFamily="34" charset="-122"/>
                          <a:cs typeface="Atkinson Hyperlegible Next" pitchFamily="34" charset="-120"/>
                        </a:rPr>
                        <a:t>915</a:t>
                      </a:r>
                      <a:endParaRPr lang="en-US" sz="1700" dirty="0">
                        <a:latin typeface="Atkinson Hyperlegible Next" charset="0"/>
                        <a:ea typeface="Atkinson Hyperlegible Next" charset="0"/>
                        <a:cs typeface="Atkinson Hyperlegible Next" charset="0"/>
                      </a:endParaRPr>
                    </a:p>
                  </a:txBody>
                  <a:tcPr marL="161921" marR="161921" marT="86358" marB="86358" anchor="ctr">
                    <a:lnL w="12700" cap="flat" cmpd="sng" algn="ctr">
                      <a:solidFill>
                        <a:srgbClr val="178463"/>
                      </a:solidFill>
                      <a:prstDash val="solid"/>
                      <a:round/>
                      <a:headEnd type="none" w="med" len="med"/>
                      <a:tailEnd type="none" w="med" len="med"/>
                    </a:lnL>
                    <a:lnR w="12700" cap="flat" cmpd="sng" algn="ctr">
                      <a:solidFill>
                        <a:srgbClr val="178463"/>
                      </a:solidFill>
                      <a:prstDash val="solid"/>
                      <a:round/>
                      <a:headEnd type="none" w="med" len="med"/>
                      <a:tailEnd type="none" w="med" len="med"/>
                    </a:lnR>
                    <a:lnT w="12700" cap="flat" cmpd="sng" algn="ctr">
                      <a:solidFill>
                        <a:srgbClr val="C9D3E0"/>
                      </a:solidFill>
                      <a:prstDash val="solid"/>
                      <a:round/>
                      <a:headEnd type="none" w="med" len="med"/>
                      <a:tailEnd type="none" w="med" len="med"/>
                    </a:lnT>
                    <a:lnB w="12700" cap="flat" cmpd="sng" algn="ctr">
                      <a:solidFill>
                        <a:srgbClr val="C9D3E0"/>
                      </a:solidFill>
                      <a:prstDash val="solid"/>
                      <a:round/>
                      <a:headEnd type="none" w="med" len="med"/>
                      <a:tailEnd type="none" w="med" len="med"/>
                    </a:lnB>
                    <a:solidFill>
                      <a:srgbClr val="178463"/>
                    </a:solidFill>
                  </a:tcPr>
                </a:tc>
                <a:tc>
                  <a:txBody>
                    <a:bodyPr/>
                    <a:lstStyle/>
                    <a:p>
                      <a:pPr algn="l" indent="0" marL="0">
                        <a:buNone/>
                      </a:pPr>
                      <a:r>
                        <a:rPr lang="en-US" sz="1700" b="1" dirty="0">
                          <a:solidFill>
                            <a:srgbClr val="14213D"/>
                          </a:solidFill>
                          <a:latin typeface="Atkinson Hyperlegible Next" pitchFamily="34" charset="0"/>
                          <a:ea typeface="Atkinson Hyperlegible Next" pitchFamily="34" charset="-122"/>
                          <a:cs typeface="Atkinson Hyperlegible Next" pitchFamily="34" charset="-120"/>
                        </a:rPr>
                        <a:t>Guest</a:t>
                      </a:r>
                      <a:endParaRPr lang="en-US" sz="1700" dirty="0">
                        <a:latin typeface="Atkinson Hyperlegible Next" charset="0"/>
                        <a:ea typeface="Atkinson Hyperlegible Next" charset="0"/>
                        <a:cs typeface="Atkinson Hyperlegible Next" charset="0"/>
                      </a:endParaRPr>
                    </a:p>
                  </a:txBody>
                  <a:tcPr marL="161921" marR="161921" marT="86358" marB="86358" anchor="ctr">
                    <a:lnL w="12700" cap="flat" cmpd="sng" algn="ctr">
                      <a:solidFill>
                        <a:srgbClr val="F7FAFC"/>
                      </a:solidFill>
                      <a:prstDash val="solid"/>
                      <a:round/>
                      <a:headEnd type="none" w="med" len="med"/>
                      <a:tailEnd type="none" w="med" len="med"/>
                    </a:lnL>
                    <a:lnR w="12700" cap="flat" cmpd="sng" algn="ctr">
                      <a:solidFill>
                        <a:srgbClr val="F7FAFC"/>
                      </a:solidFill>
                      <a:prstDash val="solid"/>
                      <a:round/>
                      <a:headEnd type="none" w="med" len="med"/>
                      <a:tailEnd type="none" w="med" len="med"/>
                    </a:lnR>
                    <a:lnT w="12700" cap="flat" cmpd="sng" algn="ctr">
                      <a:solidFill>
                        <a:srgbClr val="C9D3E0"/>
                      </a:solidFill>
                      <a:prstDash val="solid"/>
                      <a:round/>
                      <a:headEnd type="none" w="med" len="med"/>
                      <a:tailEnd type="none" w="med" len="med"/>
                    </a:lnT>
                    <a:lnB w="12700" cap="flat" cmpd="sng" algn="ctr">
                      <a:solidFill>
                        <a:srgbClr val="C9D3E0"/>
                      </a:solidFill>
                      <a:prstDash val="solid"/>
                      <a:round/>
                      <a:headEnd type="none" w="med" len="med"/>
                      <a:tailEnd type="none" w="med" len="med"/>
                    </a:lnB>
                  </a:tcPr>
                </a:tc>
                <a:tc>
                  <a:txBody>
                    <a:bodyPr/>
                    <a:lstStyle/>
                    <a:p>
                      <a:pPr algn="l" indent="0" marL="0">
                        <a:buNone/>
                      </a:pPr>
                      <a:r>
                        <a:rPr lang="en-US" sz="1700" dirty="0">
                          <a:solidFill>
                            <a:srgbClr val="14213D"/>
                          </a:solidFill>
                          <a:latin typeface="Atkinson Hyperlegible Next" pitchFamily="34" charset="0"/>
                          <a:ea typeface="Atkinson Hyperlegible Next" pitchFamily="34" charset="-122"/>
                          <a:cs typeface="Atkinson Hyperlegible Next" pitchFamily="34" charset="-120"/>
                        </a:rPr>
                        <a:t>Internet-only guest access</a:t>
                      </a:r>
                      <a:endParaRPr lang="en-US" sz="1700" dirty="0">
                        <a:latin typeface="Atkinson Hyperlegible Next" charset="0"/>
                        <a:ea typeface="Atkinson Hyperlegible Next" charset="0"/>
                        <a:cs typeface="Atkinson Hyperlegible Next" charset="0"/>
                      </a:endParaRPr>
                    </a:p>
                  </a:txBody>
                  <a:tcPr marL="161921" marR="161921" marT="86358" marB="86358" anchor="ctr">
                    <a:lnL w="12700" cap="flat" cmpd="sng" algn="ctr">
                      <a:solidFill>
                        <a:srgbClr val="F7FAFC"/>
                      </a:solidFill>
                      <a:prstDash val="solid"/>
                      <a:round/>
                      <a:headEnd type="none" w="med" len="med"/>
                      <a:tailEnd type="none" w="med" len="med"/>
                    </a:lnL>
                    <a:lnR w="12700" cap="flat" cmpd="sng" algn="ctr">
                      <a:solidFill>
                        <a:srgbClr val="F7FAFC"/>
                      </a:solidFill>
                      <a:prstDash val="solid"/>
                      <a:round/>
                      <a:headEnd type="none" w="med" len="med"/>
                      <a:tailEnd type="none" w="med" len="med"/>
                    </a:lnR>
                    <a:lnT w="12700" cap="flat" cmpd="sng" algn="ctr">
                      <a:solidFill>
                        <a:srgbClr val="C9D3E0"/>
                      </a:solidFill>
                      <a:prstDash val="solid"/>
                      <a:round/>
                      <a:headEnd type="none" w="med" len="med"/>
                      <a:tailEnd type="none" w="med" len="med"/>
                    </a:lnT>
                    <a:lnB w="12700" cap="flat" cmpd="sng" algn="ctr">
                      <a:solidFill>
                        <a:srgbClr val="C9D3E0"/>
                      </a:solidFill>
                      <a:prstDash val="solid"/>
                      <a:round/>
                      <a:headEnd type="none" w="med" len="med"/>
                      <a:tailEnd type="none" w="med" len="med"/>
                    </a:lnB>
                  </a:tcPr>
                </a:tc>
              </a:tr>
              <a:tr h="474849">
                <a:tc>
                  <a:txBody>
                    <a:bodyPr/>
                    <a:lstStyle/>
                    <a:p>
                      <a:pPr algn="l" indent="0" marL="0">
                        <a:buNone/>
                      </a:pPr>
                      <a:r>
                        <a:rPr lang="en-US" sz="1700" dirty="0">
                          <a:solidFill>
                            <a:srgbClr val="000000"/>
                          </a:solidFill>
                          <a:latin typeface="Atkinson Hyperlegible Next" pitchFamily="34" charset="0"/>
                          <a:ea typeface="Atkinson Hyperlegible Next" pitchFamily="34" charset="-122"/>
                          <a:cs typeface="Atkinson Hyperlegible Next" pitchFamily="34" charset="-120"/>
                        </a:rPr>
                        <a:t>999</a:t>
                      </a:r>
                      <a:endParaRPr lang="en-US" sz="1700" dirty="0">
                        <a:latin typeface="Atkinson Hyperlegible Next" charset="0"/>
                        <a:ea typeface="Atkinson Hyperlegible Next" charset="0"/>
                        <a:cs typeface="Atkinson Hyperlegible Next" charset="0"/>
                      </a:endParaRPr>
                    </a:p>
                  </a:txBody>
                  <a:tcPr marL="161921" marR="161921" marT="86358" marB="86358" anchor="ctr">
                    <a:lnL w="12700" cap="flat" cmpd="sng" algn="ctr">
                      <a:solidFill>
                        <a:srgbClr val="C9D3E0"/>
                      </a:solidFill>
                      <a:prstDash val="solid"/>
                      <a:round/>
                      <a:headEnd type="none" w="med" len="med"/>
                      <a:tailEnd type="none" w="med" len="med"/>
                    </a:lnL>
                    <a:lnR w="12700" cap="flat" cmpd="sng" algn="ctr">
                      <a:solidFill>
                        <a:srgbClr val="C9D3E0"/>
                      </a:solidFill>
                      <a:prstDash val="solid"/>
                      <a:round/>
                      <a:headEnd type="none" w="med" len="med"/>
                      <a:tailEnd type="none" w="med" len="med"/>
                    </a:lnR>
                    <a:lnT w="12700" cap="flat" cmpd="sng" algn="ctr">
                      <a:solidFill>
                        <a:srgbClr val="C9D3E0"/>
                      </a:solidFill>
                      <a:prstDash val="solid"/>
                      <a:round/>
                      <a:headEnd type="none" w="med" len="med"/>
                      <a:tailEnd type="none" w="med" len="med"/>
                    </a:lnT>
                    <a:lnB w="12700" cap="flat" cmpd="sng" algn="ctr">
                      <a:solidFill>
                        <a:srgbClr val="C9D3E0"/>
                      </a:solidFill>
                      <a:prstDash val="solid"/>
                      <a:round/>
                      <a:headEnd type="none" w="med" len="med"/>
                      <a:tailEnd type="none" w="med" len="med"/>
                    </a:lnB>
                    <a:solidFill>
                      <a:srgbClr val="C9D3E0"/>
                    </a:solidFill>
                  </a:tcPr>
                </a:tc>
                <a:tc>
                  <a:txBody>
                    <a:bodyPr/>
                    <a:lstStyle/>
                    <a:p>
                      <a:pPr algn="l" indent="0" marL="0">
                        <a:buNone/>
                      </a:pPr>
                      <a:r>
                        <a:rPr lang="en-US" sz="1700" b="1" dirty="0">
                          <a:solidFill>
                            <a:srgbClr val="14213D"/>
                          </a:solidFill>
                          <a:latin typeface="Atkinson Hyperlegible Next" pitchFamily="34" charset="0"/>
                          <a:ea typeface="Atkinson Hyperlegible Next" pitchFamily="34" charset="-122"/>
                          <a:cs typeface="Atkinson Hyperlegible Next" pitchFamily="34" charset="-120"/>
                        </a:rPr>
                        <a:t>Native</a:t>
                      </a:r>
                      <a:endParaRPr lang="en-US" sz="1700" dirty="0">
                        <a:latin typeface="Atkinson Hyperlegible Next" charset="0"/>
                        <a:ea typeface="Atkinson Hyperlegible Next" charset="0"/>
                        <a:cs typeface="Atkinson Hyperlegible Next" charset="0"/>
                      </a:endParaRPr>
                    </a:p>
                  </a:txBody>
                  <a:tcPr marL="161921" marR="161921" marT="86358" marB="86358" anchor="ctr">
                    <a:lnL w="12700" cap="flat" cmpd="sng" algn="ctr">
                      <a:solidFill>
                        <a:srgbClr val="F7FAFC"/>
                      </a:solidFill>
                      <a:prstDash val="solid"/>
                      <a:round/>
                      <a:headEnd type="none" w="med" len="med"/>
                      <a:tailEnd type="none" w="med" len="med"/>
                    </a:lnL>
                    <a:lnR w="12700" cap="flat" cmpd="sng" algn="ctr">
                      <a:solidFill>
                        <a:srgbClr val="F7FAFC"/>
                      </a:solidFill>
                      <a:prstDash val="solid"/>
                      <a:round/>
                      <a:headEnd type="none" w="med" len="med"/>
                      <a:tailEnd type="none" w="med" len="med"/>
                    </a:lnR>
                    <a:lnT w="12700" cap="flat" cmpd="sng" algn="ctr">
                      <a:solidFill>
                        <a:srgbClr val="C9D3E0"/>
                      </a:solidFill>
                      <a:prstDash val="solid"/>
                      <a:round/>
                      <a:headEnd type="none" w="med" len="med"/>
                      <a:tailEnd type="none" w="med" len="med"/>
                    </a:lnT>
                    <a:lnB w="12700" cap="flat" cmpd="sng" algn="ctr">
                      <a:solidFill>
                        <a:srgbClr val="F7FAFC"/>
                      </a:solidFill>
                      <a:prstDash val="solid"/>
                      <a:round/>
                      <a:headEnd type="none" w="med" len="med"/>
                      <a:tailEnd type="none" w="med" len="med"/>
                    </a:lnB>
                  </a:tcPr>
                </a:tc>
                <a:tc>
                  <a:txBody>
                    <a:bodyPr/>
                    <a:lstStyle/>
                    <a:p>
                      <a:pPr algn="l" indent="0" marL="0">
                        <a:buNone/>
                      </a:pPr>
                      <a:r>
                        <a:rPr lang="en-US" sz="1700" dirty="0">
                          <a:solidFill>
                            <a:srgbClr val="14213D"/>
                          </a:solidFill>
                          <a:latin typeface="Atkinson Hyperlegible Next" pitchFamily="34" charset="0"/>
                          <a:ea typeface="Atkinson Hyperlegible Next" pitchFamily="34" charset="-122"/>
                          <a:cs typeface="Atkinson Hyperlegible Next" pitchFamily="34" charset="-120"/>
                        </a:rPr>
                        <a:t>Unused native VLAN for trunk hardening</a:t>
                      </a:r>
                      <a:endParaRPr lang="en-US" sz="1700" dirty="0">
                        <a:latin typeface="Atkinson Hyperlegible Next" charset="0"/>
                        <a:ea typeface="Atkinson Hyperlegible Next" charset="0"/>
                        <a:cs typeface="Atkinson Hyperlegible Next" charset="0"/>
                      </a:endParaRPr>
                    </a:p>
                  </a:txBody>
                  <a:tcPr marL="161921" marR="161921" marT="86358" marB="86358" anchor="ctr">
                    <a:lnL w="12700" cap="flat" cmpd="sng" algn="ctr">
                      <a:solidFill>
                        <a:srgbClr val="F7FAFC"/>
                      </a:solidFill>
                      <a:prstDash val="solid"/>
                      <a:round/>
                      <a:headEnd type="none" w="med" len="med"/>
                      <a:tailEnd type="none" w="med" len="med"/>
                    </a:lnL>
                    <a:lnR w="12700" cap="flat" cmpd="sng" algn="ctr">
                      <a:solidFill>
                        <a:srgbClr val="F7FAFC"/>
                      </a:solidFill>
                      <a:prstDash val="solid"/>
                      <a:round/>
                      <a:headEnd type="none" w="med" len="med"/>
                      <a:tailEnd type="none" w="med" len="med"/>
                    </a:lnR>
                    <a:lnT w="12700" cap="flat" cmpd="sng" algn="ctr">
                      <a:solidFill>
                        <a:srgbClr val="C9D3E0"/>
                      </a:solidFill>
                      <a:prstDash val="solid"/>
                      <a:round/>
                      <a:headEnd type="none" w="med" len="med"/>
                      <a:tailEnd type="none" w="med" len="med"/>
                    </a:lnT>
                    <a:lnB w="12700" cap="flat" cmpd="sng" algn="ctr">
                      <a:solidFill>
                        <a:srgbClr val="F7FAFC"/>
                      </a:solidFill>
                      <a:prstDash val="solid"/>
                      <a:round/>
                      <a:headEnd type="none" w="med" len="med"/>
                      <a:tailEnd type="none" w="med" len="med"/>
                    </a:lnB>
                  </a:tcPr>
                </a:tc>
              </a:tr>
            </a:tbl>
          </a:graphicData>
        </a:graphic>
      </p:graphicFrame>
      <p:sp>
        <p:nvSpPr>
          <p:cNvPr id="6" name="Shape 3"/>
          <p:cNvSpPr/>
          <p:nvPr/>
        </p:nvSpPr>
        <p:spPr>
          <a:xfrm>
            <a:off x="9062414" y="1570335"/>
            <a:ext cx="3129281" cy="5287665"/>
          </a:xfrm>
          <a:prstGeom prst="roundRect">
            <a:avLst>
              <a:gd name="adj" fmla="val 5844"/>
            </a:avLst>
          </a:prstGeom>
          <a:solidFill>
            <a:srgbClr val="EAF0F7"/>
          </a:solidFill>
          <a:ln/>
        </p:spPr>
      </p:sp>
      <p:sp>
        <p:nvSpPr>
          <p:cNvPr id="7" name="Text 4"/>
          <p:cNvSpPr/>
          <p:nvPr/>
        </p:nvSpPr>
        <p:spPr>
          <a:xfrm>
            <a:off x="9367206" y="1948855"/>
            <a:ext cx="2519696" cy="1632049"/>
          </a:xfrm>
          <a:prstGeom prst="rect">
            <a:avLst/>
          </a:prstGeom>
          <a:noFill/>
          <a:ln/>
        </p:spPr>
        <p:txBody>
          <a:bodyPr wrap="square" lIns="0" tIns="0" rIns="0" bIns="0" rtlCol="0" anchor="t">
            <a:normAutofit/>
          </a:bodyPr>
          <a:lstStyle/>
          <a:p>
            <a:pPr algn="l" indent="0" marL="0">
              <a:lnSpc>
                <a:spcPct val="85000"/>
              </a:lnSpc>
              <a:buNone/>
            </a:pPr>
            <a:r>
              <a:rPr lang="en-US" sz="4200" spc="-42" kern="100" dirty="0">
                <a:solidFill>
                  <a:srgbClr val="14213D"/>
                </a:solidFill>
                <a:latin typeface="Overpass ExtraBold" pitchFamily="34" charset="0"/>
                <a:ea typeface="Overpass ExtraBold" pitchFamily="34" charset="-122"/>
                <a:cs typeface="Overpass ExtraBold" pitchFamily="34" charset="-120"/>
              </a:rPr>
              <a:t>Smaller broadcast domains</a:t>
            </a:r>
            <a:endParaRPr lang="en-US" sz="4200" dirty="0"/>
          </a:p>
        </p:txBody>
      </p:sp>
      <p:sp>
        <p:nvSpPr>
          <p:cNvPr id="8" name="Text 5"/>
          <p:cNvSpPr/>
          <p:nvPr/>
        </p:nvSpPr>
        <p:spPr>
          <a:xfrm>
            <a:off x="9367206" y="3793629"/>
            <a:ext cx="2519696" cy="1511102"/>
          </a:xfrm>
          <a:prstGeom prst="rect">
            <a:avLst/>
          </a:prstGeom>
          <a:noFill/>
          <a:ln/>
        </p:spPr>
        <p:txBody>
          <a:bodyPr wrap="square" lIns="0" tIns="0" rIns="0" bIns="0" rtlCol="0" anchor="t">
            <a:normAutofit/>
          </a:bodyPr>
          <a:lstStyle/>
          <a:p>
            <a:pPr algn="l" indent="0" marL="0">
              <a:lnSpc>
                <a:spcPct val="117000"/>
              </a:lnSpc>
              <a:buNone/>
            </a:pPr>
            <a:r>
              <a:rPr lang="en-US" sz="1700" dirty="0">
                <a:solidFill>
                  <a:srgbClr val="14213D"/>
                </a:solidFill>
                <a:latin typeface="Atkinson Hyperlegible Next" pitchFamily="34" charset="0"/>
                <a:ea typeface="Atkinson Hyperlegible Next" pitchFamily="34" charset="-122"/>
                <a:cs typeface="Atkinson Hyperlegible Next" pitchFamily="34" charset="-120"/>
              </a:rPr>
              <a:t>Improve performance, security, and troubleshooting by giving each role a deliberate boundary.</a:t>
            </a:r>
            <a:endParaRPr lang="en-US" sz="1700" dirty="0"/>
          </a:p>
        </p:txBody>
      </p:sp>
      <p:sp>
        <p:nvSpPr>
          <p:cNvPr id="9" name="Shape 6"/>
          <p:cNvSpPr/>
          <p:nvPr/>
        </p:nvSpPr>
        <p:spPr>
          <a:xfrm>
            <a:off x="9367206" y="5547618"/>
            <a:ext cx="831432" cy="69751"/>
          </a:xfrm>
          <a:prstGeom prst="roundRect">
            <a:avLst>
              <a:gd name="adj" fmla="val 49999"/>
            </a:avLst>
          </a:prstGeom>
          <a:solidFill>
            <a:srgbClr val="D23A22"/>
          </a:solidFill>
          <a:ln/>
        </p:spPr>
      </p:sp>
      <p:sp>
        <p:nvSpPr>
          <p:cNvPr id="10" name="Text 7"/>
          <p:cNvSpPr/>
          <p:nvPr/>
        </p:nvSpPr>
        <p:spPr>
          <a:xfrm>
            <a:off x="9367206" y="5860355"/>
            <a:ext cx="2519696" cy="619125"/>
          </a:xfrm>
          <a:prstGeom prst="rect">
            <a:avLst/>
          </a:prstGeom>
          <a:noFill/>
          <a:ln/>
        </p:spPr>
        <p:txBody>
          <a:bodyPr wrap="square" lIns="0" tIns="0" rIns="0" bIns="0" rtlCol="0" anchor="t">
            <a:normAutofit/>
          </a:bodyPr>
          <a:lstStyle/>
          <a:p>
            <a:pPr algn="l" indent="0" marL="0">
              <a:lnSpc>
                <a:spcPct val="108000"/>
              </a:lnSpc>
              <a:buNone/>
            </a:pPr>
            <a:r>
              <a:rPr lang="en-US" sz="1250" dirty="0">
                <a:solidFill>
                  <a:srgbClr val="14213D"/>
                </a:solidFill>
                <a:latin typeface="Atkinson Hyperlegible Next" pitchFamily="34" charset="0"/>
                <a:ea typeface="Atkinson Hyperlegible Next" pitchFamily="34" charset="-122"/>
                <a:cs typeface="Atkinson Hyperlegible Next" pitchFamily="34" charset="-120"/>
              </a:rPr>
              <a:t>VLAN 915 is isolated from sensitive internal resources. VLAN 999 carries no user traffic.</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1452364"/>
          </a:xfrm>
          <a:prstGeom prst="roundRect">
            <a:avLst>
              <a:gd name="adj" fmla="val 8394"/>
            </a:avLst>
          </a:prstGeom>
          <a:solidFill>
            <a:srgbClr val="14213D"/>
          </a:solidFill>
          <a:ln/>
        </p:spPr>
      </p:sp>
      <p:sp>
        <p:nvSpPr>
          <p:cNvPr id="3" name="Text 1"/>
          <p:cNvSpPr/>
          <p:nvPr/>
        </p:nvSpPr>
        <p:spPr>
          <a:xfrm>
            <a:off x="253994" y="177800"/>
            <a:ext cx="11937701" cy="198041"/>
          </a:xfrm>
          <a:prstGeom prst="rect">
            <a:avLst/>
          </a:prstGeom>
          <a:noFill/>
          <a:ln/>
        </p:spPr>
        <p:txBody>
          <a:bodyPr wrap="none" lIns="0" tIns="0" rIns="0" bIns="0" rtlCol="0" anchor="t"/>
          <a:lstStyle/>
          <a:p>
            <a:pPr algn="l" indent="0" marL="0">
              <a:lnSpc>
                <a:spcPct val="100000"/>
              </a:lnSpc>
              <a:buNone/>
            </a:pPr>
            <a:r>
              <a:rPr lang="en-US" sz="1300" b="1" spc="13" kern="100" dirty="0">
                <a:solidFill>
                  <a:srgbClr val="FFFFFF"/>
                </a:solidFill>
                <a:latin typeface="Atkinson Hyperlegible Next Bold" pitchFamily="34" charset="0"/>
                <a:ea typeface="Atkinson Hyperlegible Next Bold" pitchFamily="34" charset="-122"/>
                <a:cs typeface="Atkinson Hyperlegible Next Bold" pitchFamily="34" charset="-120"/>
              </a:rPr>
              <a:t>SITE ASSIGNMENT</a:t>
            </a:r>
            <a:endParaRPr lang="en-US" sz="1300" dirty="0"/>
          </a:p>
        </p:txBody>
      </p:sp>
      <p:sp>
        <p:nvSpPr>
          <p:cNvPr id="4" name="Text 2"/>
          <p:cNvSpPr/>
          <p:nvPr/>
        </p:nvSpPr>
        <p:spPr>
          <a:xfrm>
            <a:off x="253994" y="461566"/>
            <a:ext cx="11683708" cy="377130"/>
          </a:xfrm>
          <a:prstGeom prst="rect">
            <a:avLst/>
          </a:prstGeom>
          <a:noFill/>
          <a:ln/>
        </p:spPr>
        <p:txBody>
          <a:bodyPr wrap="none" lIns="0" tIns="0" rIns="0" bIns="0" rtlCol="0" anchor="t"/>
          <a:lstStyle/>
          <a:p>
            <a:pPr algn="l" indent="0" marL="0">
              <a:lnSpc>
                <a:spcPct val="92000"/>
              </a:lnSpc>
              <a:buNone/>
            </a:pPr>
            <a:r>
              <a:rPr lang="en-US" sz="2700" spc="-13" kern="100" dirty="0">
                <a:solidFill>
                  <a:srgbClr val="FFFFFF"/>
                </a:solidFill>
                <a:latin typeface="Overpass ExtraBold" pitchFamily="34" charset="0"/>
                <a:ea typeface="Overpass ExtraBold" pitchFamily="34" charset="-122"/>
                <a:cs typeface="Overpass ExtraBold" pitchFamily="34" charset="-120"/>
              </a:rPr>
              <a:t>VLANs follow the needs of each location</a:t>
            </a:r>
            <a:endParaRPr lang="en-US" sz="27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07987" y="2635548"/>
          <a:ext cx="11175721" cy="914400"/>
        </p:xfrm>
        <a:graphic>
          <a:graphicData uri="http://schemas.openxmlformats.org/drawingml/2006/table">
            <a:tbl>
              <a:tblPr/>
              <a:tblGrid>
                <a:gridCol w="2458611"/>
                <a:gridCol w="2793930"/>
                <a:gridCol w="5923180"/>
              </a:tblGrid>
              <a:tr h="487549">
                <a:tc>
                  <a:txBody>
                    <a:bodyPr/>
                    <a:lstStyle/>
                    <a:p>
                      <a:pPr algn="l" indent="0" marL="0">
                        <a:buNone/>
                      </a:pPr>
                      <a:r>
                        <a:rPr lang="en-US" sz="1700" dirty="0">
                          <a:solidFill>
                            <a:srgbClr val="FFFFFF"/>
                          </a:solidFill>
                          <a:latin typeface="Atkinson Hyperlegible Next" pitchFamily="34" charset="0"/>
                          <a:ea typeface="Atkinson Hyperlegible Next" pitchFamily="34" charset="-122"/>
                          <a:cs typeface="Atkinson Hyperlegible Next" pitchFamily="34" charset="-120"/>
                        </a:rPr>
                        <a:t>Site</a:t>
                      </a:r>
                      <a:endParaRPr lang="en-US" sz="1700" dirty="0">
                        <a:latin typeface="Atkinson Hyperlegible Next" charset="0"/>
                        <a:ea typeface="Atkinson Hyperlegible Next" charset="0"/>
                        <a:cs typeface="Atkinson Hyperlegible Next" charset="0"/>
                      </a:endParaRPr>
                    </a:p>
                  </a:txBody>
                  <a:tcPr marL="161921" marR="161921" marT="86358" marB="86358" anchor="ctr">
                    <a:lnL w="12700" cap="flat" cmpd="sng" algn="ctr">
                      <a:solidFill>
                        <a:srgbClr val="C9D3E0"/>
                      </a:solidFill>
                      <a:prstDash val="solid"/>
                      <a:round/>
                      <a:headEnd type="none" w="med" len="med"/>
                      <a:tailEnd type="none" w="med" len="med"/>
                    </a:lnL>
                    <a:lnR w="12700" cap="flat" cmpd="sng" algn="ctr">
                      <a:solidFill>
                        <a:srgbClr val="C9D3E0"/>
                      </a:solidFill>
                      <a:prstDash val="solid"/>
                      <a:round/>
                      <a:headEnd type="none" w="med" len="med"/>
                      <a:tailEnd type="none" w="med" len="med"/>
                    </a:lnR>
                    <a:lnT w="12700" cap="flat" cmpd="sng" algn="ctr">
                      <a:solidFill>
                        <a:srgbClr val="C9D3E0"/>
                      </a:solidFill>
                      <a:prstDash val="solid"/>
                      <a:round/>
                      <a:headEnd type="none" w="med" len="med"/>
                      <a:tailEnd type="none" w="med" len="med"/>
                    </a:lnT>
                    <a:lnB w="12700" cap="flat" cmpd="sng" algn="ctr">
                      <a:solidFill>
                        <a:srgbClr val="C9D3E0"/>
                      </a:solidFill>
                      <a:prstDash val="solid"/>
                      <a:round/>
                      <a:headEnd type="none" w="med" len="med"/>
                      <a:tailEnd type="none" w="med" len="med"/>
                    </a:lnB>
                    <a:solidFill>
                      <a:srgbClr val="14213D"/>
                    </a:solidFill>
                  </a:tcPr>
                </a:tc>
                <a:tc>
                  <a:txBody>
                    <a:bodyPr/>
                    <a:lstStyle/>
                    <a:p>
                      <a:pPr algn="l" indent="0" marL="0">
                        <a:buNone/>
                      </a:pPr>
                      <a:r>
                        <a:rPr lang="en-US" sz="1700" dirty="0">
                          <a:solidFill>
                            <a:srgbClr val="FFFFFF"/>
                          </a:solidFill>
                          <a:latin typeface="Atkinson Hyperlegible Next" pitchFamily="34" charset="0"/>
                          <a:ea typeface="Atkinson Hyperlegible Next" pitchFamily="34" charset="-122"/>
                          <a:cs typeface="Atkinson Hyperlegible Next" pitchFamily="34" charset="-120"/>
                        </a:rPr>
                        <a:t>Active VLANs</a:t>
                      </a:r>
                      <a:endParaRPr lang="en-US" sz="1700" dirty="0">
                        <a:latin typeface="Atkinson Hyperlegible Next" charset="0"/>
                        <a:ea typeface="Atkinson Hyperlegible Next" charset="0"/>
                        <a:cs typeface="Atkinson Hyperlegible Next" charset="0"/>
                      </a:endParaRPr>
                    </a:p>
                  </a:txBody>
                  <a:tcPr marL="161921" marR="161921" marT="86358" marB="86358" anchor="ctr">
                    <a:lnL w="12700" cap="flat" cmpd="sng" algn="ctr">
                      <a:solidFill>
                        <a:srgbClr val="C9D3E0"/>
                      </a:solidFill>
                      <a:prstDash val="solid"/>
                      <a:round/>
                      <a:headEnd type="none" w="med" len="med"/>
                      <a:tailEnd type="none" w="med" len="med"/>
                    </a:lnL>
                    <a:lnR w="12700" cap="flat" cmpd="sng" algn="ctr">
                      <a:solidFill>
                        <a:srgbClr val="C9D3E0"/>
                      </a:solidFill>
                      <a:prstDash val="solid"/>
                      <a:round/>
                      <a:headEnd type="none" w="med" len="med"/>
                      <a:tailEnd type="none" w="med" len="med"/>
                    </a:lnR>
                    <a:lnT w="12700" cap="flat" cmpd="sng" algn="ctr">
                      <a:solidFill>
                        <a:srgbClr val="C9D3E0"/>
                      </a:solidFill>
                      <a:prstDash val="solid"/>
                      <a:round/>
                      <a:headEnd type="none" w="med" len="med"/>
                      <a:tailEnd type="none" w="med" len="med"/>
                    </a:lnT>
                    <a:lnB w="12700" cap="flat" cmpd="sng" algn="ctr">
                      <a:solidFill>
                        <a:srgbClr val="C9D3E0"/>
                      </a:solidFill>
                      <a:prstDash val="solid"/>
                      <a:round/>
                      <a:headEnd type="none" w="med" len="med"/>
                      <a:tailEnd type="none" w="med" len="med"/>
                    </a:lnB>
                    <a:solidFill>
                      <a:srgbClr val="14213D"/>
                    </a:solidFill>
                  </a:tcPr>
                </a:tc>
                <a:tc>
                  <a:txBody>
                    <a:bodyPr/>
                    <a:lstStyle/>
                    <a:p>
                      <a:pPr algn="l" indent="0" marL="0">
                        <a:buNone/>
                      </a:pPr>
                      <a:r>
                        <a:rPr lang="en-US" sz="1700" dirty="0">
                          <a:solidFill>
                            <a:srgbClr val="FFFFFF"/>
                          </a:solidFill>
                          <a:latin typeface="Atkinson Hyperlegible Next" pitchFamily="34" charset="0"/>
                          <a:ea typeface="Atkinson Hyperlegible Next" pitchFamily="34" charset="-122"/>
                          <a:cs typeface="Atkinson Hyperlegible Next" pitchFamily="34" charset="-120"/>
                        </a:rPr>
                        <a:t>Primary users and systems</a:t>
                      </a:r>
                      <a:endParaRPr lang="en-US" sz="1700" dirty="0">
                        <a:latin typeface="Atkinson Hyperlegible Next" charset="0"/>
                        <a:ea typeface="Atkinson Hyperlegible Next" charset="0"/>
                        <a:cs typeface="Atkinson Hyperlegible Next" charset="0"/>
                      </a:endParaRPr>
                    </a:p>
                  </a:txBody>
                  <a:tcPr marL="161921" marR="161921" marT="86358" marB="86358" anchor="ctr">
                    <a:lnL w="12700" cap="flat" cmpd="sng" algn="ctr">
                      <a:solidFill>
                        <a:srgbClr val="C9D3E0"/>
                      </a:solidFill>
                      <a:prstDash val="solid"/>
                      <a:round/>
                      <a:headEnd type="none" w="med" len="med"/>
                      <a:tailEnd type="none" w="med" len="med"/>
                    </a:lnL>
                    <a:lnR w="12700" cap="flat" cmpd="sng" algn="ctr">
                      <a:solidFill>
                        <a:srgbClr val="C9D3E0"/>
                      </a:solidFill>
                      <a:prstDash val="solid"/>
                      <a:round/>
                      <a:headEnd type="none" w="med" len="med"/>
                      <a:tailEnd type="none" w="med" len="med"/>
                    </a:lnR>
                    <a:lnT w="12700" cap="flat" cmpd="sng" algn="ctr">
                      <a:solidFill>
                        <a:srgbClr val="C9D3E0"/>
                      </a:solidFill>
                      <a:prstDash val="solid"/>
                      <a:round/>
                      <a:headEnd type="none" w="med" len="med"/>
                      <a:tailEnd type="none" w="med" len="med"/>
                    </a:lnT>
                    <a:lnB w="12700" cap="flat" cmpd="sng" algn="ctr">
                      <a:solidFill>
                        <a:srgbClr val="C9D3E0"/>
                      </a:solidFill>
                      <a:prstDash val="solid"/>
                      <a:round/>
                      <a:headEnd type="none" w="med" len="med"/>
                      <a:tailEnd type="none" w="med" len="med"/>
                    </a:lnB>
                    <a:solidFill>
                      <a:srgbClr val="14213D"/>
                    </a:solidFill>
                  </a:tcPr>
                </a:tc>
              </a:tr>
              <a:tr h="487549">
                <a:tc>
                  <a:txBody>
                    <a:bodyPr/>
                    <a:lstStyle/>
                    <a:p>
                      <a:pPr algn="l" indent="0" marL="0">
                        <a:buNone/>
                      </a:pPr>
                      <a:r>
                        <a:rPr lang="en-US" sz="1700" dirty="0">
                          <a:solidFill>
                            <a:srgbClr val="14213D"/>
                          </a:solidFill>
                          <a:latin typeface="Atkinson Hyperlegible Next" pitchFamily="34" charset="0"/>
                          <a:ea typeface="Atkinson Hyperlegible Next" pitchFamily="34" charset="-122"/>
                          <a:cs typeface="Atkinson Hyperlegible Next" pitchFamily="34" charset="-120"/>
                        </a:rPr>
                        <a:t>Main Street</a:t>
                      </a:r>
                      <a:endParaRPr lang="en-US" sz="1700" dirty="0">
                        <a:latin typeface="Atkinson Hyperlegible Next" charset="0"/>
                        <a:ea typeface="Atkinson Hyperlegible Next" charset="0"/>
                        <a:cs typeface="Atkinson Hyperlegible Next" charset="0"/>
                      </a:endParaRPr>
                    </a:p>
                  </a:txBody>
                  <a:tcPr marL="161921" marR="161921" marT="86358" marB="86358" anchor="ctr">
                    <a:lnL w="12700" cap="flat" cmpd="sng" algn="ctr">
                      <a:solidFill>
                        <a:srgbClr val="C9D3E0"/>
                      </a:solidFill>
                      <a:prstDash val="solid"/>
                      <a:round/>
                      <a:headEnd type="none" w="med" len="med"/>
                      <a:tailEnd type="none" w="med" len="med"/>
                    </a:lnL>
                    <a:lnR w="12700" cap="flat" cmpd="sng" algn="ctr">
                      <a:solidFill>
                        <a:srgbClr val="C9D3E0"/>
                      </a:solidFill>
                      <a:prstDash val="solid"/>
                      <a:round/>
                      <a:headEnd type="none" w="med" len="med"/>
                      <a:tailEnd type="none" w="med" len="med"/>
                    </a:lnR>
                    <a:lnT w="12700" cap="flat" cmpd="sng" algn="ctr">
                      <a:solidFill>
                        <a:srgbClr val="C9D3E0"/>
                      </a:solidFill>
                      <a:prstDash val="solid"/>
                      <a:round/>
                      <a:headEnd type="none" w="med" len="med"/>
                      <a:tailEnd type="none" w="med" len="med"/>
                    </a:lnT>
                    <a:lnB w="12700" cap="flat" cmpd="sng" algn="ctr">
                      <a:solidFill>
                        <a:srgbClr val="C9D3E0"/>
                      </a:solidFill>
                      <a:prstDash val="solid"/>
                      <a:round/>
                      <a:headEnd type="none" w="med" len="med"/>
                      <a:tailEnd type="none" w="med" len="med"/>
                    </a:lnB>
                  </a:tcPr>
                </a:tc>
                <a:tc>
                  <a:txBody>
                    <a:bodyPr/>
                    <a:lstStyle/>
                    <a:p>
                      <a:pPr algn="l" indent="0" marL="0">
                        <a:buNone/>
                      </a:pPr>
                      <a:r>
                        <a:rPr lang="en-US" sz="1700" b="1" dirty="0">
                          <a:solidFill>
                            <a:srgbClr val="1F4FD1"/>
                          </a:solidFill>
                          <a:latin typeface="Atkinson Hyperlegible Next" pitchFamily="34" charset="0"/>
                          <a:ea typeface="Atkinson Hyperlegible Next" pitchFamily="34" charset="-122"/>
                          <a:cs typeface="Atkinson Hyperlegible Next" pitchFamily="34" charset="-120"/>
                        </a:rPr>
                        <a:t>13, 23</a:t>
                      </a:r>
                      <a:endParaRPr lang="en-US" sz="1700" dirty="0">
                        <a:latin typeface="Atkinson Hyperlegible Next" charset="0"/>
                        <a:ea typeface="Atkinson Hyperlegible Next" charset="0"/>
                        <a:cs typeface="Atkinson Hyperlegible Next" charset="0"/>
                      </a:endParaRPr>
                    </a:p>
                  </a:txBody>
                  <a:tcPr marL="161921" marR="161921" marT="86358" marB="86358" anchor="ctr">
                    <a:lnL w="12700" cap="flat" cmpd="sng" algn="ctr">
                      <a:solidFill>
                        <a:srgbClr val="C9D3E0"/>
                      </a:solidFill>
                      <a:prstDash val="solid"/>
                      <a:round/>
                      <a:headEnd type="none" w="med" len="med"/>
                      <a:tailEnd type="none" w="med" len="med"/>
                    </a:lnL>
                    <a:lnR w="12700" cap="flat" cmpd="sng" algn="ctr">
                      <a:solidFill>
                        <a:srgbClr val="C9D3E0"/>
                      </a:solidFill>
                      <a:prstDash val="solid"/>
                      <a:round/>
                      <a:headEnd type="none" w="med" len="med"/>
                      <a:tailEnd type="none" w="med" len="med"/>
                    </a:lnR>
                    <a:lnT w="12700" cap="flat" cmpd="sng" algn="ctr">
                      <a:solidFill>
                        <a:srgbClr val="C9D3E0"/>
                      </a:solidFill>
                      <a:prstDash val="solid"/>
                      <a:round/>
                      <a:headEnd type="none" w="med" len="med"/>
                      <a:tailEnd type="none" w="med" len="med"/>
                    </a:lnT>
                    <a:lnB w="12700" cap="flat" cmpd="sng" algn="ctr">
                      <a:solidFill>
                        <a:srgbClr val="C9D3E0"/>
                      </a:solidFill>
                      <a:prstDash val="solid"/>
                      <a:round/>
                      <a:headEnd type="none" w="med" len="med"/>
                      <a:tailEnd type="none" w="med" len="med"/>
                    </a:lnB>
                  </a:tcPr>
                </a:tc>
                <a:tc>
                  <a:txBody>
                    <a:bodyPr/>
                    <a:lstStyle/>
                    <a:p>
                      <a:pPr algn="l" indent="0" marL="0">
                        <a:buNone/>
                      </a:pPr>
                      <a:r>
                        <a:rPr lang="en-US" sz="1700" dirty="0">
                          <a:solidFill>
                            <a:srgbClr val="14213D"/>
                          </a:solidFill>
                          <a:latin typeface="Atkinson Hyperlegible Next" pitchFamily="34" charset="0"/>
                          <a:ea typeface="Atkinson Hyperlegible Next" pitchFamily="34" charset="-122"/>
                          <a:cs typeface="Atkinson Hyperlegible Next" pitchFamily="34" charset="-120"/>
                        </a:rPr>
                        <a:t>Provenance systems, staff, POS</a:t>
                      </a:r>
                      <a:endParaRPr lang="en-US" sz="1700" dirty="0">
                        <a:latin typeface="Atkinson Hyperlegible Next" charset="0"/>
                        <a:ea typeface="Atkinson Hyperlegible Next" charset="0"/>
                        <a:cs typeface="Atkinson Hyperlegible Next" charset="0"/>
                      </a:endParaRPr>
                    </a:p>
                  </a:txBody>
                  <a:tcPr marL="161921" marR="161921" marT="86358" marB="86358" anchor="ctr">
                    <a:lnL w="12700" cap="flat" cmpd="sng" algn="ctr">
                      <a:solidFill>
                        <a:srgbClr val="C9D3E0"/>
                      </a:solidFill>
                      <a:prstDash val="solid"/>
                      <a:round/>
                      <a:headEnd type="none" w="med" len="med"/>
                      <a:tailEnd type="none" w="med" len="med"/>
                    </a:lnL>
                    <a:lnR w="12700" cap="flat" cmpd="sng" algn="ctr">
                      <a:solidFill>
                        <a:srgbClr val="C9D3E0"/>
                      </a:solidFill>
                      <a:prstDash val="solid"/>
                      <a:round/>
                      <a:headEnd type="none" w="med" len="med"/>
                      <a:tailEnd type="none" w="med" len="med"/>
                    </a:lnR>
                    <a:lnT w="12700" cap="flat" cmpd="sng" algn="ctr">
                      <a:solidFill>
                        <a:srgbClr val="C9D3E0"/>
                      </a:solidFill>
                      <a:prstDash val="solid"/>
                      <a:round/>
                      <a:headEnd type="none" w="med" len="med"/>
                      <a:tailEnd type="none" w="med" len="med"/>
                    </a:lnT>
                    <a:lnB w="12700" cap="flat" cmpd="sng" algn="ctr">
                      <a:solidFill>
                        <a:srgbClr val="C9D3E0"/>
                      </a:solidFill>
                      <a:prstDash val="solid"/>
                      <a:round/>
                      <a:headEnd type="none" w="med" len="med"/>
                      <a:tailEnd type="none" w="med" len="med"/>
                    </a:lnB>
                  </a:tcPr>
                </a:tc>
              </a:tr>
              <a:tr h="487549">
                <a:tc>
                  <a:txBody>
                    <a:bodyPr/>
                    <a:lstStyle/>
                    <a:p>
                      <a:pPr algn="l" indent="0" marL="0">
                        <a:buNone/>
                      </a:pPr>
                      <a:r>
                        <a:rPr lang="en-US" sz="1700" dirty="0">
                          <a:solidFill>
                            <a:srgbClr val="14213D"/>
                          </a:solidFill>
                          <a:latin typeface="Atkinson Hyperlegible Next" pitchFamily="34" charset="0"/>
                          <a:ea typeface="Atkinson Hyperlegible Next" pitchFamily="34" charset="-122"/>
                          <a:cs typeface="Atkinson Hyperlegible Next" pitchFamily="34" charset="-120"/>
                        </a:rPr>
                        <a:t>Harborfront</a:t>
                      </a:r>
                      <a:endParaRPr lang="en-US" sz="1700" dirty="0">
                        <a:latin typeface="Atkinson Hyperlegible Next" charset="0"/>
                        <a:ea typeface="Atkinson Hyperlegible Next" charset="0"/>
                        <a:cs typeface="Atkinson Hyperlegible Next" charset="0"/>
                      </a:endParaRPr>
                    </a:p>
                  </a:txBody>
                  <a:tcPr marL="161921" marR="161921" marT="86358" marB="86358" anchor="ctr">
                    <a:lnL w="12700" cap="flat" cmpd="sng" algn="ctr">
                      <a:solidFill>
                        <a:srgbClr val="C9D3E0"/>
                      </a:solidFill>
                      <a:prstDash val="solid"/>
                      <a:round/>
                      <a:headEnd type="none" w="med" len="med"/>
                      <a:tailEnd type="none" w="med" len="med"/>
                    </a:lnL>
                    <a:lnR w="12700" cap="flat" cmpd="sng" algn="ctr">
                      <a:solidFill>
                        <a:srgbClr val="C9D3E0"/>
                      </a:solidFill>
                      <a:prstDash val="solid"/>
                      <a:round/>
                      <a:headEnd type="none" w="med" len="med"/>
                      <a:tailEnd type="none" w="med" len="med"/>
                    </a:lnR>
                    <a:lnT w="12700" cap="flat" cmpd="sng" algn="ctr">
                      <a:solidFill>
                        <a:srgbClr val="C9D3E0"/>
                      </a:solidFill>
                      <a:prstDash val="solid"/>
                      <a:round/>
                      <a:headEnd type="none" w="med" len="med"/>
                      <a:tailEnd type="none" w="med" len="med"/>
                    </a:lnT>
                    <a:lnB w="12700" cap="flat" cmpd="sng" algn="ctr">
                      <a:solidFill>
                        <a:srgbClr val="C9D3E0"/>
                      </a:solidFill>
                      <a:prstDash val="solid"/>
                      <a:round/>
                      <a:headEnd type="none" w="med" len="med"/>
                      <a:tailEnd type="none" w="med" len="med"/>
                    </a:lnB>
                    <a:solidFill>
                      <a:srgbClr val="EAF0F7"/>
                    </a:solidFill>
                  </a:tcPr>
                </a:tc>
                <a:tc>
                  <a:txBody>
                    <a:bodyPr/>
                    <a:lstStyle/>
                    <a:p>
                      <a:pPr algn="l" indent="0" marL="0">
                        <a:buNone/>
                      </a:pPr>
                      <a:r>
                        <a:rPr lang="en-US" sz="1700" b="1" dirty="0">
                          <a:solidFill>
                            <a:srgbClr val="14213D"/>
                          </a:solidFill>
                          <a:latin typeface="Atkinson Hyperlegible Next" pitchFamily="34" charset="0"/>
                          <a:ea typeface="Atkinson Hyperlegible Next" pitchFamily="34" charset="-122"/>
                          <a:cs typeface="Atkinson Hyperlegible Next" pitchFamily="34" charset="-120"/>
                        </a:rPr>
                        <a:t>23, 33, 43, 915</a:t>
                      </a:r>
                      <a:endParaRPr lang="en-US" sz="1700" dirty="0">
                        <a:latin typeface="Atkinson Hyperlegible Next" charset="0"/>
                        <a:ea typeface="Atkinson Hyperlegible Next" charset="0"/>
                        <a:cs typeface="Atkinson Hyperlegible Next" charset="0"/>
                      </a:endParaRPr>
                    </a:p>
                  </a:txBody>
                  <a:tcPr marL="161921" marR="161921" marT="86358" marB="86358" anchor="ctr">
                    <a:lnL w="12700" cap="flat" cmpd="sng" algn="ctr">
                      <a:solidFill>
                        <a:srgbClr val="C9D3E0"/>
                      </a:solidFill>
                      <a:prstDash val="solid"/>
                      <a:round/>
                      <a:headEnd type="none" w="med" len="med"/>
                      <a:tailEnd type="none" w="med" len="med"/>
                    </a:lnL>
                    <a:lnR w="12700" cap="flat" cmpd="sng" algn="ctr">
                      <a:solidFill>
                        <a:srgbClr val="C9D3E0"/>
                      </a:solidFill>
                      <a:prstDash val="solid"/>
                      <a:round/>
                      <a:headEnd type="none" w="med" len="med"/>
                      <a:tailEnd type="none" w="med" len="med"/>
                    </a:lnR>
                    <a:lnT w="12700" cap="flat" cmpd="sng" algn="ctr">
                      <a:solidFill>
                        <a:srgbClr val="C9D3E0"/>
                      </a:solidFill>
                      <a:prstDash val="solid"/>
                      <a:round/>
                      <a:headEnd type="none" w="med" len="med"/>
                      <a:tailEnd type="none" w="med" len="med"/>
                    </a:lnT>
                    <a:lnB w="12700" cap="flat" cmpd="sng" algn="ctr">
                      <a:solidFill>
                        <a:srgbClr val="C9D3E0"/>
                      </a:solidFill>
                      <a:prstDash val="solid"/>
                      <a:round/>
                      <a:headEnd type="none" w="med" len="med"/>
                      <a:tailEnd type="none" w="med" len="med"/>
                    </a:lnB>
                    <a:solidFill>
                      <a:srgbClr val="EAF0F7"/>
                    </a:solidFill>
                  </a:tcPr>
                </a:tc>
                <a:tc>
                  <a:txBody>
                    <a:bodyPr/>
                    <a:lstStyle/>
                    <a:p>
                      <a:pPr algn="l" indent="0" marL="0">
                        <a:buNone/>
                      </a:pPr>
                      <a:r>
                        <a:rPr lang="en-US" sz="1700" dirty="0">
                          <a:solidFill>
                            <a:srgbClr val="14213D"/>
                          </a:solidFill>
                          <a:latin typeface="Atkinson Hyperlegible Next" pitchFamily="34" charset="0"/>
                          <a:ea typeface="Atkinson Hyperlegible Next" pitchFamily="34" charset="-122"/>
                          <a:cs typeface="Atkinson Hyperlegible Next" pitchFamily="34" charset="-120"/>
                        </a:rPr>
                        <a:t>Staff, administration, IT management, guests</a:t>
                      </a:r>
                      <a:endParaRPr lang="en-US" sz="1700" dirty="0">
                        <a:latin typeface="Atkinson Hyperlegible Next" charset="0"/>
                        <a:ea typeface="Atkinson Hyperlegible Next" charset="0"/>
                        <a:cs typeface="Atkinson Hyperlegible Next" charset="0"/>
                      </a:endParaRPr>
                    </a:p>
                  </a:txBody>
                  <a:tcPr marL="161921" marR="161921" marT="86358" marB="86358" anchor="ctr">
                    <a:lnL w="12700" cap="flat" cmpd="sng" algn="ctr">
                      <a:solidFill>
                        <a:srgbClr val="C9D3E0"/>
                      </a:solidFill>
                      <a:prstDash val="solid"/>
                      <a:round/>
                      <a:headEnd type="none" w="med" len="med"/>
                      <a:tailEnd type="none" w="med" len="med"/>
                    </a:lnL>
                    <a:lnR w="12700" cap="flat" cmpd="sng" algn="ctr">
                      <a:solidFill>
                        <a:srgbClr val="C9D3E0"/>
                      </a:solidFill>
                      <a:prstDash val="solid"/>
                      <a:round/>
                      <a:headEnd type="none" w="med" len="med"/>
                      <a:tailEnd type="none" w="med" len="med"/>
                    </a:lnR>
                    <a:lnT w="12700" cap="flat" cmpd="sng" algn="ctr">
                      <a:solidFill>
                        <a:srgbClr val="C9D3E0"/>
                      </a:solidFill>
                      <a:prstDash val="solid"/>
                      <a:round/>
                      <a:headEnd type="none" w="med" len="med"/>
                      <a:tailEnd type="none" w="med" len="med"/>
                    </a:lnT>
                    <a:lnB w="12700" cap="flat" cmpd="sng" algn="ctr">
                      <a:solidFill>
                        <a:srgbClr val="C9D3E0"/>
                      </a:solidFill>
                      <a:prstDash val="solid"/>
                      <a:round/>
                      <a:headEnd type="none" w="med" len="med"/>
                      <a:tailEnd type="none" w="med" len="med"/>
                    </a:lnB>
                    <a:solidFill>
                      <a:srgbClr val="EAF0F7"/>
                    </a:solidFill>
                  </a:tcPr>
                </a:tc>
              </a:tr>
              <a:tr h="474849">
                <a:tc>
                  <a:txBody>
                    <a:bodyPr/>
                    <a:lstStyle/>
                    <a:p>
                      <a:pPr algn="l" indent="0" marL="0">
                        <a:buNone/>
                      </a:pPr>
                      <a:r>
                        <a:rPr lang="en-US" sz="1700" dirty="0">
                          <a:solidFill>
                            <a:srgbClr val="14213D"/>
                          </a:solidFill>
                          <a:latin typeface="Atkinson Hyperlegible Next" pitchFamily="34" charset="0"/>
                          <a:ea typeface="Atkinson Hyperlegible Next" pitchFamily="34" charset="-122"/>
                          <a:cs typeface="Atkinson Hyperlegible Next" pitchFamily="34" charset="-120"/>
                        </a:rPr>
                        <a:t>Auction Annex</a:t>
                      </a:r>
                      <a:endParaRPr lang="en-US" sz="1700" dirty="0">
                        <a:latin typeface="Atkinson Hyperlegible Next" charset="0"/>
                        <a:ea typeface="Atkinson Hyperlegible Next" charset="0"/>
                        <a:cs typeface="Atkinson Hyperlegible Next" charset="0"/>
                      </a:endParaRPr>
                    </a:p>
                  </a:txBody>
                  <a:tcPr marL="161921" marR="161921" marT="86358" marB="86358" anchor="ctr">
                    <a:lnL w="12700" cap="flat" cmpd="sng" algn="ctr">
                      <a:solidFill>
                        <a:srgbClr val="C9D3E0"/>
                      </a:solidFill>
                      <a:prstDash val="solid"/>
                      <a:round/>
                      <a:headEnd type="none" w="med" len="med"/>
                      <a:tailEnd type="none" w="med" len="med"/>
                    </a:lnL>
                    <a:lnR w="12700" cap="flat" cmpd="sng" algn="ctr">
                      <a:solidFill>
                        <a:srgbClr val="C9D3E0"/>
                      </a:solidFill>
                      <a:prstDash val="solid"/>
                      <a:round/>
                      <a:headEnd type="none" w="med" len="med"/>
                      <a:tailEnd type="none" w="med" len="med"/>
                    </a:lnR>
                    <a:lnT w="12700" cap="flat" cmpd="sng" algn="ctr">
                      <a:solidFill>
                        <a:srgbClr val="C9D3E0"/>
                      </a:solidFill>
                      <a:prstDash val="solid"/>
                      <a:round/>
                      <a:headEnd type="none" w="med" len="med"/>
                      <a:tailEnd type="none" w="med" len="med"/>
                    </a:lnT>
                    <a:lnB w="12700" cap="flat" cmpd="sng" algn="ctr">
                      <a:solidFill>
                        <a:srgbClr val="C9D3E0"/>
                      </a:solidFill>
                      <a:prstDash val="solid"/>
                      <a:round/>
                      <a:headEnd type="none" w="med" len="med"/>
                      <a:tailEnd type="none" w="med" len="med"/>
                    </a:lnB>
                  </a:tcPr>
                </a:tc>
                <a:tc>
                  <a:txBody>
                    <a:bodyPr/>
                    <a:lstStyle/>
                    <a:p>
                      <a:pPr algn="l" indent="0" marL="0">
                        <a:buNone/>
                      </a:pPr>
                      <a:r>
                        <a:rPr lang="en-US" sz="1700" b="1" dirty="0">
                          <a:solidFill>
                            <a:srgbClr val="1F4FD1"/>
                          </a:solidFill>
                          <a:latin typeface="Atkinson Hyperlegible Next" pitchFamily="34" charset="0"/>
                          <a:ea typeface="Atkinson Hyperlegible Next" pitchFamily="34" charset="-122"/>
                          <a:cs typeface="Atkinson Hyperlegible Next" pitchFamily="34" charset="-120"/>
                        </a:rPr>
                        <a:t>13, 23</a:t>
                      </a:r>
                      <a:endParaRPr lang="en-US" sz="1700" dirty="0">
                        <a:latin typeface="Atkinson Hyperlegible Next" charset="0"/>
                        <a:ea typeface="Atkinson Hyperlegible Next" charset="0"/>
                        <a:cs typeface="Atkinson Hyperlegible Next" charset="0"/>
                      </a:endParaRPr>
                    </a:p>
                  </a:txBody>
                  <a:tcPr marL="161921" marR="161921" marT="86358" marB="86358" anchor="ctr">
                    <a:lnL w="12700" cap="flat" cmpd="sng" algn="ctr">
                      <a:solidFill>
                        <a:srgbClr val="C9D3E0"/>
                      </a:solidFill>
                      <a:prstDash val="solid"/>
                      <a:round/>
                      <a:headEnd type="none" w="med" len="med"/>
                      <a:tailEnd type="none" w="med" len="med"/>
                    </a:lnL>
                    <a:lnR w="12700" cap="flat" cmpd="sng" algn="ctr">
                      <a:solidFill>
                        <a:srgbClr val="C9D3E0"/>
                      </a:solidFill>
                      <a:prstDash val="solid"/>
                      <a:round/>
                      <a:headEnd type="none" w="med" len="med"/>
                      <a:tailEnd type="none" w="med" len="med"/>
                    </a:lnR>
                    <a:lnT w="12700" cap="flat" cmpd="sng" algn="ctr">
                      <a:solidFill>
                        <a:srgbClr val="C9D3E0"/>
                      </a:solidFill>
                      <a:prstDash val="solid"/>
                      <a:round/>
                      <a:headEnd type="none" w="med" len="med"/>
                      <a:tailEnd type="none" w="med" len="med"/>
                    </a:lnT>
                    <a:lnB w="12700" cap="flat" cmpd="sng" algn="ctr">
                      <a:solidFill>
                        <a:srgbClr val="C9D3E0"/>
                      </a:solidFill>
                      <a:prstDash val="solid"/>
                      <a:round/>
                      <a:headEnd type="none" w="med" len="med"/>
                      <a:tailEnd type="none" w="med" len="med"/>
                    </a:lnB>
                  </a:tcPr>
                </a:tc>
                <a:tc>
                  <a:txBody>
                    <a:bodyPr/>
                    <a:lstStyle/>
                    <a:p>
                      <a:pPr algn="l" indent="0" marL="0">
                        <a:buNone/>
                      </a:pPr>
                      <a:r>
                        <a:rPr lang="en-US" sz="1700" dirty="0">
                          <a:solidFill>
                            <a:srgbClr val="14213D"/>
                          </a:solidFill>
                          <a:latin typeface="Atkinson Hyperlegible Next" pitchFamily="34" charset="0"/>
                          <a:ea typeface="Atkinson Hyperlegible Next" pitchFamily="34" charset="-122"/>
                          <a:cs typeface="Atkinson Hyperlegible Next" pitchFamily="34" charset="-120"/>
                        </a:rPr>
                        <a:t>Provenance systems, staff, POS</a:t>
                      </a:r>
                      <a:endParaRPr lang="en-US" sz="1700" dirty="0">
                        <a:latin typeface="Atkinson Hyperlegible Next" charset="0"/>
                        <a:ea typeface="Atkinson Hyperlegible Next" charset="0"/>
                        <a:cs typeface="Atkinson Hyperlegible Next" charset="0"/>
                      </a:endParaRPr>
                    </a:p>
                  </a:txBody>
                  <a:tcPr marL="161921" marR="161921" marT="86358" marB="86358" anchor="ctr">
                    <a:lnL w="12700" cap="flat" cmpd="sng" algn="ctr">
                      <a:solidFill>
                        <a:srgbClr val="C9D3E0"/>
                      </a:solidFill>
                      <a:prstDash val="solid"/>
                      <a:round/>
                      <a:headEnd type="none" w="med" len="med"/>
                      <a:tailEnd type="none" w="med" len="med"/>
                    </a:lnL>
                    <a:lnR w="12700" cap="flat" cmpd="sng" algn="ctr">
                      <a:solidFill>
                        <a:srgbClr val="C9D3E0"/>
                      </a:solidFill>
                      <a:prstDash val="solid"/>
                      <a:round/>
                      <a:headEnd type="none" w="med" len="med"/>
                      <a:tailEnd type="none" w="med" len="med"/>
                    </a:lnR>
                    <a:lnT w="12700" cap="flat" cmpd="sng" algn="ctr">
                      <a:solidFill>
                        <a:srgbClr val="C9D3E0"/>
                      </a:solidFill>
                      <a:prstDash val="solid"/>
                      <a:round/>
                      <a:headEnd type="none" w="med" len="med"/>
                      <a:tailEnd type="none" w="med" len="med"/>
                    </a:lnT>
                    <a:lnB w="12700" cap="flat" cmpd="sng" algn="ctr">
                      <a:solidFill>
                        <a:srgbClr val="C9D3E0"/>
                      </a:solidFill>
                      <a:prstDash val="solid"/>
                      <a:round/>
                      <a:headEnd type="none" w="med" len="med"/>
                      <a:tailEnd type="none" w="med" len="med"/>
                    </a:lnB>
                  </a:tcPr>
                </a:tc>
              </a:tr>
            </a:tbl>
          </a:graphicData>
        </a:graphic>
      </p:graphicFrame>
      <p:sp>
        <p:nvSpPr>
          <p:cNvPr id="6" name="Shape 3"/>
          <p:cNvSpPr/>
          <p:nvPr/>
        </p:nvSpPr>
        <p:spPr>
          <a:xfrm>
            <a:off x="507987" y="4788991"/>
            <a:ext cx="5435464" cy="1343025"/>
          </a:xfrm>
          <a:prstGeom prst="roundRect">
            <a:avLst>
              <a:gd name="adj" fmla="val 13617"/>
            </a:avLst>
          </a:prstGeom>
          <a:solidFill>
            <a:srgbClr val="EAF0F7"/>
          </a:solidFill>
          <a:ln/>
        </p:spPr>
      </p:sp>
      <p:sp>
        <p:nvSpPr>
          <p:cNvPr id="7" name="Text 4"/>
          <p:cNvSpPr/>
          <p:nvPr/>
        </p:nvSpPr>
        <p:spPr>
          <a:xfrm>
            <a:off x="736582" y="4966791"/>
            <a:ext cx="4978275" cy="301625"/>
          </a:xfrm>
          <a:prstGeom prst="rect">
            <a:avLst/>
          </a:prstGeom>
          <a:noFill/>
          <a:ln/>
        </p:spPr>
        <p:txBody>
          <a:bodyPr wrap="none" lIns="0" tIns="0" rIns="0" bIns="0" rtlCol="0" anchor="t"/>
          <a:lstStyle/>
          <a:p>
            <a:pPr algn="l" indent="0" marL="0">
              <a:lnSpc>
                <a:spcPct val="104000"/>
              </a:lnSpc>
              <a:buNone/>
            </a:pPr>
            <a:r>
              <a:rPr lang="en-US" sz="1900" b="1" dirty="0">
                <a:solidFill>
                  <a:srgbClr val="14213D"/>
                </a:solidFill>
                <a:latin typeface="Atkinson Hyperlegible Next Bold" pitchFamily="34" charset="0"/>
                <a:ea typeface="Atkinson Hyperlegible Next Bold" pitchFamily="34" charset="-122"/>
                <a:cs typeface="Atkinson Hyperlegible Next Bold" pitchFamily="34" charset="-120"/>
              </a:rPr>
              <a:t>Common core</a:t>
            </a:r>
            <a:endParaRPr lang="en-US" sz="1900" dirty="0"/>
          </a:p>
        </p:txBody>
      </p:sp>
      <p:sp>
        <p:nvSpPr>
          <p:cNvPr id="8" name="Text 5"/>
          <p:cNvSpPr/>
          <p:nvPr/>
        </p:nvSpPr>
        <p:spPr>
          <a:xfrm>
            <a:off x="736582" y="5420816"/>
            <a:ext cx="5206870" cy="266700"/>
          </a:xfrm>
          <a:prstGeom prst="rect">
            <a:avLst/>
          </a:prstGeom>
          <a:noFill/>
          <a:ln/>
        </p:spPr>
        <p:txBody>
          <a:bodyPr wrap="none" lIns="0" tIns="0" rIns="0" bIns="0" rtlCol="0" anchor="t"/>
          <a:lstStyle/>
          <a:p>
            <a:pPr algn="l" indent="0" marL="0">
              <a:lnSpc>
                <a:spcPct val="117000"/>
              </a:lnSpc>
              <a:buNone/>
            </a:pPr>
            <a:r>
              <a:rPr lang="en-US" sz="1500" dirty="0">
                <a:solidFill>
                  <a:srgbClr val="14213D"/>
                </a:solidFill>
                <a:latin typeface="Atkinson Hyperlegible Next" pitchFamily="34" charset="0"/>
                <a:ea typeface="Atkinson Hyperlegible Next" pitchFamily="34" charset="-122"/>
                <a:cs typeface="Atkinson Hyperlegible Next" pitchFamily="34" charset="-120"/>
              </a:rPr>
              <a:t>VLAN 23 supports staff and POS at every location.</a:t>
            </a:r>
            <a:endParaRPr lang="en-US" sz="1500" dirty="0"/>
          </a:p>
        </p:txBody>
      </p:sp>
      <p:sp>
        <p:nvSpPr>
          <p:cNvPr id="9" name="Shape 6"/>
          <p:cNvSpPr/>
          <p:nvPr/>
        </p:nvSpPr>
        <p:spPr>
          <a:xfrm>
            <a:off x="6248244" y="4788991"/>
            <a:ext cx="5435464" cy="1343025"/>
          </a:xfrm>
          <a:prstGeom prst="roundRect">
            <a:avLst>
              <a:gd name="adj" fmla="val 13617"/>
            </a:avLst>
          </a:prstGeom>
          <a:solidFill>
            <a:srgbClr val="EAF0F7"/>
          </a:solidFill>
          <a:ln/>
        </p:spPr>
      </p:sp>
      <p:sp>
        <p:nvSpPr>
          <p:cNvPr id="10" name="Text 7"/>
          <p:cNvSpPr/>
          <p:nvPr/>
        </p:nvSpPr>
        <p:spPr>
          <a:xfrm>
            <a:off x="6476838" y="4966791"/>
            <a:ext cx="4978275" cy="301625"/>
          </a:xfrm>
          <a:prstGeom prst="rect">
            <a:avLst/>
          </a:prstGeom>
          <a:noFill/>
          <a:ln/>
        </p:spPr>
        <p:txBody>
          <a:bodyPr wrap="none" lIns="0" tIns="0" rIns="0" bIns="0" rtlCol="0" anchor="t"/>
          <a:lstStyle/>
          <a:p>
            <a:pPr algn="l" indent="0" marL="0">
              <a:lnSpc>
                <a:spcPct val="104000"/>
              </a:lnSpc>
              <a:buNone/>
            </a:pPr>
            <a:r>
              <a:rPr lang="en-US" sz="1900" b="1" dirty="0">
                <a:solidFill>
                  <a:srgbClr val="14213D"/>
                </a:solidFill>
                <a:latin typeface="Atkinson Hyperlegible Next Bold" pitchFamily="34" charset="0"/>
                <a:ea typeface="Atkinson Hyperlegible Next Bold" pitchFamily="34" charset="-122"/>
                <a:cs typeface="Atkinson Hyperlegible Next Bold" pitchFamily="34" charset="-120"/>
              </a:rPr>
              <a:t>Local need</a:t>
            </a:r>
            <a:endParaRPr lang="en-US" sz="1900" dirty="0"/>
          </a:p>
        </p:txBody>
      </p:sp>
      <p:sp>
        <p:nvSpPr>
          <p:cNvPr id="11" name="Text 8"/>
          <p:cNvSpPr/>
          <p:nvPr/>
        </p:nvSpPr>
        <p:spPr>
          <a:xfrm>
            <a:off x="6476838" y="5420816"/>
            <a:ext cx="4978275" cy="533400"/>
          </a:xfrm>
          <a:prstGeom prst="rect">
            <a:avLst/>
          </a:prstGeom>
          <a:noFill/>
          <a:ln/>
        </p:spPr>
        <p:txBody>
          <a:bodyPr wrap="square" lIns="0" tIns="0" rIns="0" bIns="0" rtlCol="0" anchor="t">
            <a:normAutofit/>
          </a:bodyPr>
          <a:lstStyle/>
          <a:p>
            <a:pPr algn="l" indent="0" marL="0">
              <a:lnSpc>
                <a:spcPct val="117000"/>
              </a:lnSpc>
              <a:buNone/>
            </a:pPr>
            <a:r>
              <a:rPr lang="en-US" sz="1500" dirty="0">
                <a:solidFill>
                  <a:srgbClr val="14213D"/>
                </a:solidFill>
                <a:latin typeface="Atkinson Hyperlegible Next" pitchFamily="34" charset="0"/>
                <a:ea typeface="Atkinson Hyperlegible Next" pitchFamily="34" charset="-122"/>
                <a:cs typeface="Atkinson Hyperlegible Next" pitchFamily="34" charset="-120"/>
              </a:rPr>
              <a:t>Guest access exists only at Harborfront, where it is required.</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3715947" cy="6858000"/>
          </a:xfrm>
          <a:prstGeom prst="roundRect">
            <a:avLst>
              <a:gd name="adj" fmla="val 3281"/>
            </a:avLst>
          </a:prstGeom>
          <a:solidFill>
            <a:srgbClr val="14213D"/>
          </a:solidFill>
          <a:ln/>
        </p:spPr>
      </p:sp>
      <p:sp>
        <p:nvSpPr>
          <p:cNvPr id="3" name="Text 1"/>
          <p:cNvSpPr/>
          <p:nvPr/>
        </p:nvSpPr>
        <p:spPr>
          <a:xfrm>
            <a:off x="304792" y="355600"/>
            <a:ext cx="3411155" cy="198041"/>
          </a:xfrm>
          <a:prstGeom prst="rect">
            <a:avLst/>
          </a:prstGeom>
          <a:noFill/>
          <a:ln/>
        </p:spPr>
        <p:txBody>
          <a:bodyPr wrap="none" lIns="0" tIns="0" rIns="0" bIns="0" rtlCol="0" anchor="t"/>
          <a:lstStyle/>
          <a:p>
            <a:pPr algn="l" indent="0" marL="0">
              <a:lnSpc>
                <a:spcPct val="100000"/>
              </a:lnSpc>
              <a:buNone/>
            </a:pPr>
            <a:r>
              <a:rPr lang="en-US" sz="1300" b="1" spc="13" kern="100" dirty="0">
                <a:solidFill>
                  <a:srgbClr val="FFFFFF"/>
                </a:solidFill>
                <a:latin typeface="Atkinson Hyperlegible Next Bold" pitchFamily="34" charset="0"/>
                <a:ea typeface="Atkinson Hyperlegible Next Bold" pitchFamily="34" charset="-122"/>
                <a:cs typeface="Atkinson Hyperlegible Next Bold" pitchFamily="34" charset="-120"/>
              </a:rPr>
              <a:t>TRUNKING</a:t>
            </a:r>
            <a:endParaRPr lang="en-US" sz="1300" dirty="0"/>
          </a:p>
        </p:txBody>
      </p:sp>
      <p:sp>
        <p:nvSpPr>
          <p:cNvPr id="4" name="Text 2"/>
          <p:cNvSpPr/>
          <p:nvPr/>
        </p:nvSpPr>
        <p:spPr>
          <a:xfrm>
            <a:off x="304792" y="639366"/>
            <a:ext cx="3106362" cy="3264098"/>
          </a:xfrm>
          <a:prstGeom prst="rect">
            <a:avLst/>
          </a:prstGeom>
          <a:noFill/>
          <a:ln/>
        </p:spPr>
        <p:txBody>
          <a:bodyPr wrap="square" lIns="0" tIns="0" rIns="0" bIns="0" rtlCol="0" anchor="t">
            <a:normAutofit/>
          </a:bodyPr>
          <a:lstStyle/>
          <a:p>
            <a:pPr algn="l" indent="0" marL="0">
              <a:lnSpc>
                <a:spcPct val="85000"/>
              </a:lnSpc>
              <a:buNone/>
            </a:pPr>
            <a:r>
              <a:rPr lang="en-US" sz="4200" spc="-21" kern="100" dirty="0">
                <a:solidFill>
                  <a:srgbClr val="FFFFFF"/>
                </a:solidFill>
                <a:latin typeface="Overpass ExtraBold" pitchFamily="34" charset="0"/>
                <a:ea typeface="Overpass ExtraBold" pitchFamily="34" charset="-122"/>
                <a:cs typeface="Overpass ExtraBold" pitchFamily="34" charset="-120"/>
              </a:rPr>
              <a:t>802.1Q trunks carry the right VLANs between switches</a:t>
            </a:r>
            <a:endParaRPr lang="en-US" sz="4200" dirty="0"/>
          </a:p>
        </p:txBody>
      </p:sp>
      <p:sp>
        <p:nvSpPr>
          <p:cNvPr id="5" name="Text 3"/>
          <p:cNvSpPr/>
          <p:nvPr/>
        </p:nvSpPr>
        <p:spPr>
          <a:xfrm>
            <a:off x="304792" y="5595739"/>
            <a:ext cx="3106362" cy="906661"/>
          </a:xfrm>
          <a:prstGeom prst="rect">
            <a:avLst/>
          </a:prstGeom>
          <a:noFill/>
          <a:ln/>
        </p:spPr>
        <p:txBody>
          <a:bodyPr wrap="square" lIns="0" tIns="0" rIns="0" bIns="0" rtlCol="0" anchor="t">
            <a:normAutofit/>
          </a:bodyPr>
          <a:lstStyle/>
          <a:p>
            <a:pPr algn="l" indent="0" marL="0">
              <a:lnSpc>
                <a:spcPct val="117000"/>
              </a:lnSpc>
              <a:buNone/>
            </a:pPr>
            <a:r>
              <a:rPr lang="en-US" sz="1700" dirty="0">
                <a:solidFill>
                  <a:srgbClr val="FFFFFF"/>
                </a:solidFill>
                <a:latin typeface="Atkinson Hyperlegible Next" pitchFamily="34" charset="0"/>
                <a:ea typeface="Atkinson Hyperlegible Next" pitchFamily="34" charset="-122"/>
                <a:cs typeface="Atkinson Hyperlegible Next" pitchFamily="34" charset="-120"/>
              </a:rPr>
              <a:t>Tagging preserves VLAN identity while frames cross a shared inter-switch path.</a:t>
            </a:r>
            <a:endParaRPr lang="en-US" sz="1700" dirty="0"/>
          </a:p>
        </p:txBody>
      </p:sp>
      <p:sp>
        <p:nvSpPr>
          <p:cNvPr id="6" name="Shape 4"/>
          <p:cNvSpPr/>
          <p:nvPr/>
        </p:nvSpPr>
        <p:spPr>
          <a:xfrm>
            <a:off x="4681024" y="1331317"/>
            <a:ext cx="1339618" cy="758825"/>
          </a:xfrm>
          <a:prstGeom prst="rect">
            <a:avLst/>
          </a:prstGeom>
          <a:solidFill>
            <a:srgbClr val="14213D"/>
          </a:solidFill>
          <a:ln/>
        </p:spPr>
      </p:sp>
      <p:sp>
        <p:nvSpPr>
          <p:cNvPr id="7" name="Text 5"/>
          <p:cNvSpPr/>
          <p:nvPr/>
        </p:nvSpPr>
        <p:spPr>
          <a:xfrm>
            <a:off x="4909618" y="1559917"/>
            <a:ext cx="882429" cy="301625"/>
          </a:xfrm>
          <a:prstGeom prst="rect">
            <a:avLst/>
          </a:prstGeom>
          <a:noFill/>
          <a:ln/>
        </p:spPr>
        <p:txBody>
          <a:bodyPr wrap="none" lIns="0" tIns="0" rIns="0" bIns="0" rtlCol="0" anchor="t"/>
          <a:lstStyle/>
          <a:p>
            <a:pPr algn="l" indent="0" marL="0">
              <a:lnSpc>
                <a:spcPct val="104000"/>
              </a:lnSpc>
              <a:buNone/>
            </a:pPr>
            <a:r>
              <a:rPr lang="en-US" sz="1900" b="1" dirty="0">
                <a:solidFill>
                  <a:srgbClr val="FFFFFF"/>
                </a:solidFill>
                <a:latin typeface="Atkinson Hyperlegible Next Bold" pitchFamily="34" charset="0"/>
                <a:ea typeface="Atkinson Hyperlegible Next Bold" pitchFamily="34" charset="-122"/>
                <a:cs typeface="Atkinson Hyperlegible Next Bold" pitchFamily="34" charset="-120"/>
              </a:rPr>
              <a:t>SW0</a:t>
            </a:r>
            <a:endParaRPr lang="en-US" sz="1900" dirty="0"/>
          </a:p>
        </p:txBody>
      </p:sp>
      <p:sp>
        <p:nvSpPr>
          <p:cNvPr id="8" name="Text 6"/>
          <p:cNvSpPr/>
          <p:nvPr/>
        </p:nvSpPr>
        <p:spPr>
          <a:xfrm>
            <a:off x="6172939" y="1559917"/>
            <a:ext cx="4018854" cy="301625"/>
          </a:xfrm>
          <a:prstGeom prst="rect">
            <a:avLst/>
          </a:prstGeom>
          <a:noFill/>
          <a:ln/>
        </p:spPr>
        <p:txBody>
          <a:bodyPr wrap="none" lIns="0" tIns="0" rIns="0" bIns="0" rtlCol="0" anchor="t"/>
          <a:lstStyle/>
          <a:p>
            <a:pPr algn="l" indent="0" marL="0">
              <a:lnSpc>
                <a:spcPct val="104000"/>
              </a:lnSpc>
              <a:buNone/>
            </a:pPr>
            <a:r>
              <a:rPr lang="en-US" sz="1900" b="1" dirty="0">
                <a:solidFill>
                  <a:srgbClr val="14213D"/>
                </a:solidFill>
                <a:latin typeface="Atkinson Hyperlegible Next Bold" pitchFamily="34" charset="0"/>
                <a:ea typeface="Atkinson Hyperlegible Next Bold" pitchFamily="34" charset="-122"/>
                <a:cs typeface="Atkinson Hyperlegible Next Bold" pitchFamily="34" charset="-120"/>
              </a:rPr>
              <a:t>802.1Q trunk</a:t>
            </a:r>
            <a:endParaRPr lang="en-US" sz="1900" dirty="0"/>
          </a:p>
        </p:txBody>
      </p:sp>
      <p:sp>
        <p:nvSpPr>
          <p:cNvPr id="9" name="Shape 7"/>
          <p:cNvSpPr/>
          <p:nvPr/>
        </p:nvSpPr>
        <p:spPr>
          <a:xfrm>
            <a:off x="10344090" y="1331317"/>
            <a:ext cx="1339618" cy="758825"/>
          </a:xfrm>
          <a:prstGeom prst="rect">
            <a:avLst/>
          </a:prstGeom>
          <a:solidFill>
            <a:srgbClr val="14213D"/>
          </a:solidFill>
          <a:ln/>
        </p:spPr>
      </p:sp>
      <p:sp>
        <p:nvSpPr>
          <p:cNvPr id="10" name="Text 8"/>
          <p:cNvSpPr/>
          <p:nvPr/>
        </p:nvSpPr>
        <p:spPr>
          <a:xfrm>
            <a:off x="10572684" y="1559917"/>
            <a:ext cx="882429" cy="301625"/>
          </a:xfrm>
          <a:prstGeom prst="rect">
            <a:avLst/>
          </a:prstGeom>
          <a:noFill/>
          <a:ln/>
        </p:spPr>
        <p:txBody>
          <a:bodyPr wrap="none" lIns="0" tIns="0" rIns="0" bIns="0" rtlCol="0" anchor="t"/>
          <a:lstStyle/>
          <a:p>
            <a:pPr algn="l" indent="0" marL="0">
              <a:lnSpc>
                <a:spcPct val="104000"/>
              </a:lnSpc>
              <a:buNone/>
            </a:pPr>
            <a:r>
              <a:rPr lang="en-US" sz="1900" b="1" dirty="0">
                <a:solidFill>
                  <a:srgbClr val="FFFFFF"/>
                </a:solidFill>
                <a:latin typeface="Atkinson Hyperlegible Next Bold" pitchFamily="34" charset="0"/>
                <a:ea typeface="Atkinson Hyperlegible Next Bold" pitchFamily="34" charset="-122"/>
                <a:cs typeface="Atkinson Hyperlegible Next Bold" pitchFamily="34" charset="-120"/>
              </a:rPr>
              <a:t>SW1</a:t>
            </a:r>
            <a:endParaRPr lang="en-US" sz="1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681024" y="2280642"/>
          <a:ext cx="7002684" cy="914400"/>
        </p:xfrm>
        <a:graphic>
          <a:graphicData uri="http://schemas.openxmlformats.org/drawingml/2006/table">
            <a:tbl>
              <a:tblPr/>
              <a:tblGrid>
                <a:gridCol w="7002684"/>
              </a:tblGrid>
              <a:tr h="474849">
                <a:tc>
                  <a:txBody>
                    <a:bodyPr/>
                    <a:lstStyle/>
                    <a:p>
                      <a:pPr algn="l" indent="0" marL="0">
                        <a:buNone/>
                      </a:pPr>
                      <a:r>
                        <a:rPr lang="en-US" sz="1700" dirty="0">
                          <a:solidFill>
                            <a:srgbClr val="FFFFFF"/>
                          </a:solidFill>
                          <a:latin typeface="Atkinson Hyperlegible Next" pitchFamily="34" charset="0"/>
                          <a:ea typeface="Atkinson Hyperlegible Next" pitchFamily="34" charset="-122"/>
                          <a:cs typeface="Atkinson Hyperlegible Next" pitchFamily="34" charset="-120"/>
                        </a:rPr>
                        <a:t>VLAN 13 · Provenance-Systems</a:t>
                      </a:r>
                      <a:endParaRPr lang="en-US" sz="1700" dirty="0">
                        <a:latin typeface="Atkinson Hyperlegible Next" charset="0"/>
                        <a:ea typeface="Atkinson Hyperlegible Next" charset="0"/>
                        <a:cs typeface="Atkinson Hyperlegible Next" charset="0"/>
                      </a:endParaRPr>
                    </a:p>
                  </a:txBody>
                  <a:tcPr marL="161921" marR="161921" marT="86358" marB="86358" anchor="ctr">
                    <a:lnL w="13493" cap="flat" cmpd="sng" algn="ctr">
                      <a:solidFill>
                        <a:srgbClr val="1F4FD1"/>
                      </a:solidFill>
                      <a:prstDash val="solid"/>
                      <a:round/>
                      <a:headEnd type="none" w="med" len="med"/>
                      <a:tailEnd type="none" w="med" len="med"/>
                    </a:lnL>
                    <a:lnR w="13493" cap="flat" cmpd="sng" algn="ctr">
                      <a:solidFill>
                        <a:srgbClr val="1F4FD1"/>
                      </a:solidFill>
                      <a:prstDash val="solid"/>
                      <a:round/>
                      <a:headEnd type="none" w="med" len="med"/>
                      <a:tailEnd type="none" w="med" len="med"/>
                    </a:lnR>
                    <a:lnT w="13493" cap="flat" cmpd="sng" algn="ctr">
                      <a:solidFill>
                        <a:srgbClr val="1F4FD1"/>
                      </a:solidFill>
                      <a:prstDash val="solid"/>
                      <a:round/>
                      <a:headEnd type="none" w="med" len="med"/>
                      <a:tailEnd type="none" w="med" len="med"/>
                    </a:lnT>
                    <a:lnB w="13493" cap="flat" cmpd="sng" algn="ctr">
                      <a:solidFill>
                        <a:srgbClr val="1F4FD1"/>
                      </a:solidFill>
                      <a:prstDash val="solid"/>
                      <a:round/>
                      <a:headEnd type="none" w="med" len="med"/>
                      <a:tailEnd type="none" w="med" len="med"/>
                    </a:lnB>
                    <a:solidFill>
                      <a:srgbClr val="1F4FD1"/>
                    </a:solidFill>
                  </a:tcPr>
                </a:tc>
              </a:tr>
              <a:tr h="474849">
                <a:tc>
                  <a:txBody>
                    <a:bodyPr/>
                    <a:lstStyle/>
                    <a:p>
                      <a:pPr algn="l" indent="0" marL="0">
                        <a:buNone/>
                      </a:pPr>
                      <a:r>
                        <a:rPr lang="en-US" sz="1700" dirty="0">
                          <a:solidFill>
                            <a:srgbClr val="FFFFFF"/>
                          </a:solidFill>
                          <a:latin typeface="Atkinson Hyperlegible Next" pitchFamily="34" charset="0"/>
                          <a:ea typeface="Atkinson Hyperlegible Next" pitchFamily="34" charset="-122"/>
                          <a:cs typeface="Atkinson Hyperlegible Next" pitchFamily="34" charset="-120"/>
                        </a:rPr>
                        <a:t>VLAN 23 · Staff-POS</a:t>
                      </a:r>
                      <a:endParaRPr lang="en-US" sz="1700" dirty="0">
                        <a:latin typeface="Atkinson Hyperlegible Next" charset="0"/>
                        <a:ea typeface="Atkinson Hyperlegible Next" charset="0"/>
                        <a:cs typeface="Atkinson Hyperlegible Next" charset="0"/>
                      </a:endParaRPr>
                    </a:p>
                  </a:txBody>
                  <a:tcPr marL="161921" marR="161921" marT="86358" marB="86358" anchor="ctr">
                    <a:lnL w="13493" cap="flat" cmpd="sng" algn="ctr">
                      <a:solidFill>
                        <a:srgbClr val="178463"/>
                      </a:solidFill>
                      <a:prstDash val="solid"/>
                      <a:round/>
                      <a:headEnd type="none" w="med" len="med"/>
                      <a:tailEnd type="none" w="med" len="med"/>
                    </a:lnL>
                    <a:lnR w="13493" cap="flat" cmpd="sng" algn="ctr">
                      <a:solidFill>
                        <a:srgbClr val="178463"/>
                      </a:solidFill>
                      <a:prstDash val="solid"/>
                      <a:round/>
                      <a:headEnd type="none" w="med" len="med"/>
                      <a:tailEnd type="none" w="med" len="med"/>
                    </a:lnR>
                    <a:lnT w="13493" cap="flat" cmpd="sng" algn="ctr">
                      <a:solidFill>
                        <a:srgbClr val="178463"/>
                      </a:solidFill>
                      <a:prstDash val="solid"/>
                      <a:round/>
                      <a:headEnd type="none" w="med" len="med"/>
                      <a:tailEnd type="none" w="med" len="med"/>
                    </a:lnT>
                    <a:lnB w="13493" cap="flat" cmpd="sng" algn="ctr">
                      <a:solidFill>
                        <a:srgbClr val="178463"/>
                      </a:solidFill>
                      <a:prstDash val="solid"/>
                      <a:round/>
                      <a:headEnd type="none" w="med" len="med"/>
                      <a:tailEnd type="none" w="med" len="med"/>
                    </a:lnB>
                    <a:solidFill>
                      <a:srgbClr val="178463"/>
                    </a:solidFill>
                  </a:tcPr>
                </a:tc>
              </a:tr>
              <a:tr h="474849">
                <a:tc>
                  <a:txBody>
                    <a:bodyPr/>
                    <a:lstStyle/>
                    <a:p>
                      <a:pPr algn="l" indent="0" marL="0">
                        <a:buNone/>
                      </a:pPr>
                      <a:r>
                        <a:rPr lang="en-US" sz="1700" dirty="0">
                          <a:solidFill>
                            <a:srgbClr val="FFFFFF"/>
                          </a:solidFill>
                          <a:latin typeface="Atkinson Hyperlegible Next" pitchFamily="34" charset="0"/>
                          <a:ea typeface="Atkinson Hyperlegible Next" pitchFamily="34" charset="-122"/>
                          <a:cs typeface="Atkinson Hyperlegible Next" pitchFamily="34" charset="-120"/>
                        </a:rPr>
                        <a:t>VLAN 33 · Admin</a:t>
                      </a:r>
                      <a:endParaRPr lang="en-US" sz="1700" dirty="0">
                        <a:latin typeface="Atkinson Hyperlegible Next" charset="0"/>
                        <a:ea typeface="Atkinson Hyperlegible Next" charset="0"/>
                        <a:cs typeface="Atkinson Hyperlegible Next" charset="0"/>
                      </a:endParaRPr>
                    </a:p>
                  </a:txBody>
                  <a:tcPr marL="161921" marR="161921" marT="86358" marB="86358" anchor="ctr">
                    <a:lnL w="13493" cap="flat" cmpd="sng" algn="ctr">
                      <a:solidFill>
                        <a:srgbClr val="7B4FD6"/>
                      </a:solidFill>
                      <a:prstDash val="solid"/>
                      <a:round/>
                      <a:headEnd type="none" w="med" len="med"/>
                      <a:tailEnd type="none" w="med" len="med"/>
                    </a:lnL>
                    <a:lnR w="13493" cap="flat" cmpd="sng" algn="ctr">
                      <a:solidFill>
                        <a:srgbClr val="7B4FD6"/>
                      </a:solidFill>
                      <a:prstDash val="solid"/>
                      <a:round/>
                      <a:headEnd type="none" w="med" len="med"/>
                      <a:tailEnd type="none" w="med" len="med"/>
                    </a:lnR>
                    <a:lnT w="13493" cap="flat" cmpd="sng" algn="ctr">
                      <a:solidFill>
                        <a:srgbClr val="7B4FD6"/>
                      </a:solidFill>
                      <a:prstDash val="solid"/>
                      <a:round/>
                      <a:headEnd type="none" w="med" len="med"/>
                      <a:tailEnd type="none" w="med" len="med"/>
                    </a:lnT>
                    <a:lnB w="13493" cap="flat" cmpd="sng" algn="ctr">
                      <a:solidFill>
                        <a:srgbClr val="7B4FD6"/>
                      </a:solidFill>
                      <a:prstDash val="solid"/>
                      <a:round/>
                      <a:headEnd type="none" w="med" len="med"/>
                      <a:tailEnd type="none" w="med" len="med"/>
                    </a:lnB>
                    <a:solidFill>
                      <a:srgbClr val="7B4FD6"/>
                    </a:solidFill>
                  </a:tcPr>
                </a:tc>
              </a:tr>
              <a:tr h="474849">
                <a:tc>
                  <a:txBody>
                    <a:bodyPr/>
                    <a:lstStyle/>
                    <a:p>
                      <a:pPr algn="l" indent="0" marL="0">
                        <a:buNone/>
                      </a:pPr>
                      <a:r>
                        <a:rPr lang="en-US" sz="1700" dirty="0">
                          <a:solidFill>
                            <a:srgbClr val="FFFFFF"/>
                          </a:solidFill>
                          <a:latin typeface="Atkinson Hyperlegible Next" pitchFamily="34" charset="0"/>
                          <a:ea typeface="Atkinson Hyperlegible Next" pitchFamily="34" charset="-122"/>
                          <a:cs typeface="Atkinson Hyperlegible Next" pitchFamily="34" charset="-120"/>
                        </a:rPr>
                        <a:t>VLAN 43 · IT-Mgmt</a:t>
                      </a:r>
                      <a:endParaRPr lang="en-US" sz="1700" dirty="0">
                        <a:latin typeface="Atkinson Hyperlegible Next" charset="0"/>
                        <a:ea typeface="Atkinson Hyperlegible Next" charset="0"/>
                        <a:cs typeface="Atkinson Hyperlegible Next" charset="0"/>
                      </a:endParaRPr>
                    </a:p>
                  </a:txBody>
                  <a:tcPr marL="161921" marR="161921" marT="86358" marB="86358" anchor="ctr">
                    <a:lnL w="13493" cap="flat" cmpd="sng" algn="ctr">
                      <a:solidFill>
                        <a:srgbClr val="1F4FD1"/>
                      </a:solidFill>
                      <a:prstDash val="solid"/>
                      <a:round/>
                      <a:headEnd type="none" w="med" len="med"/>
                      <a:tailEnd type="none" w="med" len="med"/>
                    </a:lnL>
                    <a:lnR w="13493" cap="flat" cmpd="sng" algn="ctr">
                      <a:solidFill>
                        <a:srgbClr val="1F4FD1"/>
                      </a:solidFill>
                      <a:prstDash val="solid"/>
                      <a:round/>
                      <a:headEnd type="none" w="med" len="med"/>
                      <a:tailEnd type="none" w="med" len="med"/>
                    </a:lnR>
                    <a:lnT w="13493" cap="flat" cmpd="sng" algn="ctr">
                      <a:solidFill>
                        <a:srgbClr val="1F4FD1"/>
                      </a:solidFill>
                      <a:prstDash val="solid"/>
                      <a:round/>
                      <a:headEnd type="none" w="med" len="med"/>
                      <a:tailEnd type="none" w="med" len="med"/>
                    </a:lnT>
                    <a:lnB w="13493" cap="flat" cmpd="sng" algn="ctr">
                      <a:solidFill>
                        <a:srgbClr val="1F4FD1"/>
                      </a:solidFill>
                      <a:prstDash val="solid"/>
                      <a:round/>
                      <a:headEnd type="none" w="med" len="med"/>
                      <a:tailEnd type="none" w="med" len="med"/>
                    </a:lnB>
                    <a:solidFill>
                      <a:srgbClr val="1F4FD1"/>
                    </a:solidFill>
                  </a:tcPr>
                </a:tc>
              </a:tr>
              <a:tr h="474849">
                <a:tc>
                  <a:txBody>
                    <a:bodyPr/>
                    <a:lstStyle/>
                    <a:p>
                      <a:pPr algn="l" indent="0" marL="0">
                        <a:buNone/>
                      </a:pPr>
                      <a:r>
                        <a:rPr lang="en-US" sz="1700" dirty="0">
                          <a:solidFill>
                            <a:srgbClr val="FFFFFF"/>
                          </a:solidFill>
                          <a:latin typeface="Atkinson Hyperlegible Next" pitchFamily="34" charset="0"/>
                          <a:ea typeface="Atkinson Hyperlegible Next" pitchFamily="34" charset="-122"/>
                          <a:cs typeface="Atkinson Hyperlegible Next" pitchFamily="34" charset="-120"/>
                        </a:rPr>
                        <a:t>VLAN 915 · Guest</a:t>
                      </a:r>
                      <a:endParaRPr lang="en-US" sz="1700" dirty="0">
                        <a:latin typeface="Atkinson Hyperlegible Next" charset="0"/>
                        <a:ea typeface="Atkinson Hyperlegible Next" charset="0"/>
                        <a:cs typeface="Atkinson Hyperlegible Next" charset="0"/>
                      </a:endParaRPr>
                    </a:p>
                  </a:txBody>
                  <a:tcPr marL="161921" marR="161921" marT="86358" marB="86358" anchor="ctr">
                    <a:lnL w="13493" cap="flat" cmpd="sng" algn="ctr">
                      <a:solidFill>
                        <a:srgbClr val="178463"/>
                      </a:solidFill>
                      <a:prstDash val="solid"/>
                      <a:round/>
                      <a:headEnd type="none" w="med" len="med"/>
                      <a:tailEnd type="none" w="med" len="med"/>
                    </a:lnL>
                    <a:lnR w="13493" cap="flat" cmpd="sng" algn="ctr">
                      <a:solidFill>
                        <a:srgbClr val="178463"/>
                      </a:solidFill>
                      <a:prstDash val="solid"/>
                      <a:round/>
                      <a:headEnd type="none" w="med" len="med"/>
                      <a:tailEnd type="none" w="med" len="med"/>
                    </a:lnR>
                    <a:lnT w="13493" cap="flat" cmpd="sng" algn="ctr">
                      <a:solidFill>
                        <a:srgbClr val="178463"/>
                      </a:solidFill>
                      <a:prstDash val="solid"/>
                      <a:round/>
                      <a:headEnd type="none" w="med" len="med"/>
                      <a:tailEnd type="none" w="med" len="med"/>
                    </a:lnT>
                    <a:lnB w="13493" cap="flat" cmpd="sng" algn="ctr">
                      <a:solidFill>
                        <a:srgbClr val="178463"/>
                      </a:solidFill>
                      <a:prstDash val="solid"/>
                      <a:round/>
                      <a:headEnd type="none" w="med" len="med"/>
                      <a:tailEnd type="none" w="med" len="med"/>
                    </a:lnB>
                    <a:solidFill>
                      <a:srgbClr val="178463"/>
                    </a:solidFill>
                  </a:tcPr>
                </a:tc>
              </a:tr>
              <a:tr h="474849">
                <a:tc>
                  <a:txBody>
                    <a:bodyPr/>
                    <a:lstStyle/>
                    <a:p>
                      <a:pPr algn="l" indent="0" marL="0">
                        <a:buNone/>
                      </a:pPr>
                      <a:r>
                        <a:rPr lang="en-US" sz="1700" dirty="0">
                          <a:solidFill>
                            <a:srgbClr val="000000"/>
                          </a:solidFill>
                          <a:latin typeface="Atkinson Hyperlegible Next" pitchFamily="34" charset="0"/>
                          <a:ea typeface="Atkinson Hyperlegible Next" pitchFamily="34" charset="-122"/>
                          <a:cs typeface="Atkinson Hyperlegible Next" pitchFamily="34" charset="-120"/>
                        </a:rPr>
                        <a:t>VLAN 999 · Native, unused</a:t>
                      </a:r>
                      <a:endParaRPr lang="en-US" sz="1700" dirty="0">
                        <a:latin typeface="Atkinson Hyperlegible Next" charset="0"/>
                        <a:ea typeface="Atkinson Hyperlegible Next" charset="0"/>
                        <a:cs typeface="Atkinson Hyperlegible Next" charset="0"/>
                      </a:endParaRPr>
                    </a:p>
                  </a:txBody>
                  <a:tcPr marL="161921" marR="161921" marT="86358" marB="86358" anchor="ctr">
                    <a:lnL w="13493" cap="flat" cmpd="sng" algn="ctr">
                      <a:solidFill>
                        <a:srgbClr val="C9D3E0"/>
                      </a:solidFill>
                      <a:prstDash val="solid"/>
                      <a:round/>
                      <a:headEnd type="none" w="med" len="med"/>
                      <a:tailEnd type="none" w="med" len="med"/>
                    </a:lnL>
                    <a:lnR w="13493" cap="flat" cmpd="sng" algn="ctr">
                      <a:solidFill>
                        <a:srgbClr val="C9D3E0"/>
                      </a:solidFill>
                      <a:prstDash val="solid"/>
                      <a:round/>
                      <a:headEnd type="none" w="med" len="med"/>
                      <a:tailEnd type="none" w="med" len="med"/>
                    </a:lnR>
                    <a:lnT w="13493" cap="flat" cmpd="sng" algn="ctr">
                      <a:solidFill>
                        <a:srgbClr val="C9D3E0"/>
                      </a:solidFill>
                      <a:prstDash val="solid"/>
                      <a:round/>
                      <a:headEnd type="none" w="med" len="med"/>
                      <a:tailEnd type="none" w="med" len="med"/>
                    </a:lnT>
                    <a:lnB w="13493" cap="flat" cmpd="sng" algn="ctr">
                      <a:solidFill>
                        <a:srgbClr val="C9D3E0"/>
                      </a:solidFill>
                      <a:prstDash val="solid"/>
                      <a:round/>
                      <a:headEnd type="none" w="med" len="med"/>
                      <a:tailEnd type="none" w="med" len="med"/>
                    </a:lnB>
                    <a:solidFill>
                      <a:srgbClr val="C9D3E0"/>
                    </a:solidFill>
                  </a:tcPr>
                </a:tc>
              </a:tr>
            </a:tbl>
          </a:graphicData>
        </a:graphic>
      </p:graphicFrame>
      <p:sp>
        <p:nvSpPr>
          <p:cNvPr id="12" name="Text 9"/>
          <p:cNvSpPr/>
          <p:nvPr/>
        </p:nvSpPr>
        <p:spPr>
          <a:xfrm>
            <a:off x="4681024" y="5320308"/>
            <a:ext cx="7510671" cy="206375"/>
          </a:xfrm>
          <a:prstGeom prst="rect">
            <a:avLst/>
          </a:prstGeom>
          <a:noFill/>
          <a:ln/>
        </p:spPr>
        <p:txBody>
          <a:bodyPr wrap="none" lIns="0" tIns="0" rIns="0" bIns="0" rtlCol="0" anchor="t"/>
          <a:lstStyle/>
          <a:p>
            <a:pPr algn="l" indent="0" marL="0">
              <a:lnSpc>
                <a:spcPct val="108000"/>
              </a:lnSpc>
              <a:buNone/>
            </a:pPr>
            <a:r>
              <a:rPr lang="en-US" sz="1250" dirty="0">
                <a:solidFill>
                  <a:srgbClr val="4A5873"/>
                </a:solidFill>
                <a:latin typeface="Atkinson Hyperlegible Next" pitchFamily="34" charset="0"/>
                <a:ea typeface="Atkinson Hyperlegible Next" pitchFamily="34" charset="-122"/>
                <a:cs typeface="Atkinson Hyperlegible Next" pitchFamily="34" charset="-120"/>
              </a:rPr>
              <a:t>Allowed VLANs only</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1257498"/>
          </a:xfrm>
          <a:prstGeom prst="roundRect">
            <a:avLst>
              <a:gd name="adj" fmla="val 9695"/>
            </a:avLst>
          </a:prstGeom>
          <a:solidFill>
            <a:srgbClr val="14213D"/>
          </a:solidFill>
          <a:ln/>
        </p:spPr>
      </p:sp>
      <p:sp>
        <p:nvSpPr>
          <p:cNvPr id="3" name="Text 1"/>
          <p:cNvSpPr/>
          <p:nvPr/>
        </p:nvSpPr>
        <p:spPr>
          <a:xfrm>
            <a:off x="253994" y="177800"/>
            <a:ext cx="11937701" cy="198041"/>
          </a:xfrm>
          <a:prstGeom prst="rect">
            <a:avLst/>
          </a:prstGeom>
          <a:noFill/>
          <a:ln/>
        </p:spPr>
        <p:txBody>
          <a:bodyPr wrap="none" lIns="0" tIns="0" rIns="0" bIns="0" rtlCol="0" anchor="t"/>
          <a:lstStyle/>
          <a:p>
            <a:pPr algn="l" indent="0" marL="0">
              <a:lnSpc>
                <a:spcPct val="100000"/>
              </a:lnSpc>
              <a:buNone/>
            </a:pPr>
            <a:r>
              <a:rPr lang="en-US" sz="1300" b="1" spc="13" kern="100" dirty="0">
                <a:solidFill>
                  <a:srgbClr val="FFFFFF"/>
                </a:solidFill>
                <a:latin typeface="Atkinson Hyperlegible Next Bold" pitchFamily="34" charset="0"/>
                <a:ea typeface="Atkinson Hyperlegible Next Bold" pitchFamily="34" charset="-122"/>
                <a:cs typeface="Atkinson Hyperlegible Next Bold" pitchFamily="34" charset="-120"/>
              </a:rPr>
              <a:t>LOOP PREVENTION</a:t>
            </a:r>
            <a:endParaRPr lang="en-US" sz="1300" dirty="0"/>
          </a:p>
        </p:txBody>
      </p:sp>
      <p:sp>
        <p:nvSpPr>
          <p:cNvPr id="4" name="Text 2"/>
          <p:cNvSpPr/>
          <p:nvPr/>
        </p:nvSpPr>
        <p:spPr>
          <a:xfrm>
            <a:off x="253994" y="461566"/>
            <a:ext cx="11683708" cy="377130"/>
          </a:xfrm>
          <a:prstGeom prst="rect">
            <a:avLst/>
          </a:prstGeom>
          <a:noFill/>
          <a:ln/>
        </p:spPr>
        <p:txBody>
          <a:bodyPr wrap="none" lIns="0" tIns="0" rIns="0" bIns="0" rtlCol="0" anchor="t"/>
          <a:lstStyle/>
          <a:p>
            <a:pPr algn="l" indent="0" marL="0">
              <a:lnSpc>
                <a:spcPct val="92000"/>
              </a:lnSpc>
              <a:buNone/>
            </a:pPr>
            <a:r>
              <a:rPr lang="en-US" sz="2700" spc="-13" kern="100" dirty="0">
                <a:solidFill>
                  <a:srgbClr val="FFFFFF"/>
                </a:solidFill>
                <a:latin typeface="Overpass ExtraBold" pitchFamily="34" charset="0"/>
                <a:ea typeface="Overpass ExtraBold" pitchFamily="34" charset="-122"/>
                <a:cs typeface="Overpass ExtraBold" pitchFamily="34" charset="-120"/>
              </a:rPr>
              <a:t>STP blocks loops before they become broadcast storms</a:t>
            </a:r>
            <a:endParaRPr lang="en-US" sz="2700" dirty="0"/>
          </a:p>
        </p:txBody>
      </p:sp>
      <p:pic>
        <p:nvPicPr>
          <p:cNvPr id="5" name="Image 0" descr="preencoded.png">    </p:cNvPr>
          <p:cNvPicPr>
            <a:picLocks noChangeAspect="1"/>
          </p:cNvPicPr>
          <p:nvPr/>
        </p:nvPicPr>
        <p:blipFill>
          <a:blip r:embed="rId1"/>
          <a:stretch>
            <a:fillRect/>
          </a:stretch>
        </p:blipFill>
        <p:spPr>
          <a:xfrm>
            <a:off x="507987" y="2343249"/>
            <a:ext cx="11175720" cy="38862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1333302"/>
          </a:xfrm>
          <a:prstGeom prst="roundRect">
            <a:avLst>
              <a:gd name="adj" fmla="val 9144"/>
            </a:avLst>
          </a:prstGeom>
          <a:solidFill>
            <a:srgbClr val="14213D"/>
          </a:solidFill>
          <a:ln/>
        </p:spPr>
      </p:sp>
      <p:sp>
        <p:nvSpPr>
          <p:cNvPr id="3" name="Text 1"/>
          <p:cNvSpPr/>
          <p:nvPr/>
        </p:nvSpPr>
        <p:spPr>
          <a:xfrm>
            <a:off x="253994" y="177800"/>
            <a:ext cx="11937701" cy="198041"/>
          </a:xfrm>
          <a:prstGeom prst="rect">
            <a:avLst/>
          </a:prstGeom>
          <a:noFill/>
          <a:ln/>
        </p:spPr>
        <p:txBody>
          <a:bodyPr wrap="none" lIns="0" tIns="0" rIns="0" bIns="0" rtlCol="0" anchor="t"/>
          <a:lstStyle/>
          <a:p>
            <a:pPr algn="l" indent="0" marL="0">
              <a:lnSpc>
                <a:spcPct val="100000"/>
              </a:lnSpc>
              <a:buNone/>
            </a:pPr>
            <a:r>
              <a:rPr lang="en-US" sz="1300" b="1" spc="13" kern="100" dirty="0">
                <a:solidFill>
                  <a:srgbClr val="FFFFFF"/>
                </a:solidFill>
                <a:latin typeface="Atkinson Hyperlegible Next Bold" pitchFamily="34" charset="0"/>
                <a:ea typeface="Atkinson Hyperlegible Next Bold" pitchFamily="34" charset="-122"/>
                <a:cs typeface="Atkinson Hyperlegible Next Bold" pitchFamily="34" charset="-120"/>
              </a:rPr>
              <a:t>LINK RESILIENCE</a:t>
            </a:r>
            <a:endParaRPr lang="en-US" sz="1300" dirty="0"/>
          </a:p>
        </p:txBody>
      </p:sp>
      <p:sp>
        <p:nvSpPr>
          <p:cNvPr id="4" name="Text 2"/>
          <p:cNvSpPr/>
          <p:nvPr/>
        </p:nvSpPr>
        <p:spPr>
          <a:xfrm>
            <a:off x="253994" y="461566"/>
            <a:ext cx="11683708" cy="377130"/>
          </a:xfrm>
          <a:prstGeom prst="rect">
            <a:avLst/>
          </a:prstGeom>
          <a:noFill/>
          <a:ln/>
        </p:spPr>
        <p:txBody>
          <a:bodyPr wrap="none" lIns="0" tIns="0" rIns="0" bIns="0" rtlCol="0" anchor="t"/>
          <a:lstStyle/>
          <a:p>
            <a:pPr algn="l" indent="0" marL="0">
              <a:lnSpc>
                <a:spcPct val="92000"/>
              </a:lnSpc>
              <a:buNone/>
            </a:pPr>
            <a:r>
              <a:rPr lang="en-US" sz="2700" spc="-13" kern="100" dirty="0">
                <a:solidFill>
                  <a:srgbClr val="FFFFFF"/>
                </a:solidFill>
                <a:latin typeface="Overpass ExtraBold" pitchFamily="34" charset="0"/>
                <a:ea typeface="Overpass ExtraBold" pitchFamily="34" charset="-122"/>
                <a:cs typeface="Overpass ExtraBold" pitchFamily="34" charset="-120"/>
              </a:rPr>
              <a:t>EtherChannel makes two physical links act as one logical path</a:t>
            </a:r>
            <a:endParaRPr lang="en-US" sz="2700" dirty="0"/>
          </a:p>
        </p:txBody>
      </p:sp>
      <p:sp>
        <p:nvSpPr>
          <p:cNvPr id="5" name="Shape 3"/>
          <p:cNvSpPr/>
          <p:nvPr/>
        </p:nvSpPr>
        <p:spPr>
          <a:xfrm>
            <a:off x="0" y="1790502"/>
            <a:ext cx="5867253" cy="5067498"/>
          </a:xfrm>
          <a:prstGeom prst="roundRect">
            <a:avLst>
              <a:gd name="adj" fmla="val 3609"/>
            </a:avLst>
          </a:prstGeom>
          <a:solidFill>
            <a:srgbClr val="EAF0F7"/>
          </a:solidFill>
          <a:ln/>
        </p:spPr>
      </p:sp>
      <p:sp>
        <p:nvSpPr>
          <p:cNvPr id="6" name="Shape 4"/>
          <p:cNvSpPr/>
          <p:nvPr/>
        </p:nvSpPr>
        <p:spPr>
          <a:xfrm>
            <a:off x="304792" y="2044502"/>
            <a:ext cx="951881" cy="328017"/>
          </a:xfrm>
          <a:prstGeom prst="roundRect">
            <a:avLst>
              <a:gd name="adj" fmla="val 22115"/>
            </a:avLst>
          </a:prstGeom>
          <a:noFill/>
          <a:ln w="6350">
            <a:solidFill>
              <a:srgbClr val="14213D"/>
            </a:solidFill>
            <a:prstDash val="solid"/>
          </a:ln>
        </p:spPr>
      </p:sp>
      <p:sp>
        <p:nvSpPr>
          <p:cNvPr id="7" name="Text 5"/>
          <p:cNvSpPr/>
          <p:nvPr/>
        </p:nvSpPr>
        <p:spPr>
          <a:xfrm>
            <a:off x="434270" y="2109192"/>
            <a:ext cx="1302511" cy="198636"/>
          </a:xfrm>
          <a:prstGeom prst="rect">
            <a:avLst/>
          </a:prstGeom>
          <a:noFill/>
          <a:ln/>
        </p:spPr>
        <p:txBody>
          <a:bodyPr wrap="none" lIns="0" tIns="0" rIns="0" bIns="0" rtlCol="0" anchor="t"/>
          <a:lstStyle/>
          <a:p>
            <a:pPr algn="l" indent="0" marL="0">
              <a:lnSpc>
                <a:spcPct val="96000"/>
              </a:lnSpc>
              <a:buNone/>
            </a:pPr>
            <a:r>
              <a:rPr lang="en-US" sz="1350" spc="14" kern="100" dirty="0">
                <a:solidFill>
                  <a:srgbClr val="14213D"/>
                </a:solidFill>
                <a:latin typeface="Overpass ExtraBold" pitchFamily="34" charset="0"/>
                <a:ea typeface="Overpass ExtraBold" pitchFamily="34" charset="-122"/>
                <a:cs typeface="Overpass ExtraBold" pitchFamily="34" charset="-120"/>
              </a:rPr>
              <a:t>BEFORE</a:t>
            </a:r>
            <a:endParaRPr lang="en-US" sz="1350" dirty="0"/>
          </a:p>
        </p:txBody>
      </p:sp>
      <p:sp>
        <p:nvSpPr>
          <p:cNvPr id="8" name="Text 6"/>
          <p:cNvSpPr/>
          <p:nvPr/>
        </p:nvSpPr>
        <p:spPr>
          <a:xfrm>
            <a:off x="304792" y="2563019"/>
            <a:ext cx="5562461" cy="206375"/>
          </a:xfrm>
          <a:prstGeom prst="rect">
            <a:avLst/>
          </a:prstGeom>
          <a:noFill/>
          <a:ln/>
        </p:spPr>
        <p:txBody>
          <a:bodyPr wrap="none" lIns="0" tIns="0" rIns="0" bIns="0" rtlCol="0" anchor="t"/>
          <a:lstStyle/>
          <a:p>
            <a:pPr algn="l" indent="0" marL="0">
              <a:lnSpc>
                <a:spcPct val="108000"/>
              </a:lnSpc>
              <a:buNone/>
            </a:pPr>
            <a:r>
              <a:rPr lang="en-US" sz="1250" dirty="0">
                <a:solidFill>
                  <a:srgbClr val="14213D"/>
                </a:solidFill>
                <a:latin typeface="Atkinson Hyperlegible Next" pitchFamily="34" charset="0"/>
                <a:ea typeface="Atkinson Hyperlegible Next" pitchFamily="34" charset="-122"/>
                <a:cs typeface="Atkinson Hyperlegible Next" pitchFamily="34" charset="-120"/>
              </a:rPr>
              <a:t>LOOP RISK</a:t>
            </a:r>
            <a:endParaRPr lang="en-US" sz="1250" dirty="0"/>
          </a:p>
        </p:txBody>
      </p:sp>
      <p:sp>
        <p:nvSpPr>
          <p:cNvPr id="9" name="Text 7"/>
          <p:cNvSpPr/>
          <p:nvPr/>
        </p:nvSpPr>
        <p:spPr>
          <a:xfrm>
            <a:off x="304792" y="3131344"/>
            <a:ext cx="5257668" cy="349250"/>
          </a:xfrm>
          <a:prstGeom prst="rect">
            <a:avLst/>
          </a:prstGeom>
          <a:noFill/>
          <a:ln/>
        </p:spPr>
        <p:txBody>
          <a:bodyPr wrap="none" lIns="0" tIns="0" rIns="0" bIns="0" rtlCol="0" anchor="t"/>
          <a:lstStyle/>
          <a:p>
            <a:pPr algn="l" indent="0" marL="0">
              <a:lnSpc>
                <a:spcPct val="104000"/>
              </a:lnSpc>
              <a:buNone/>
            </a:pPr>
            <a:r>
              <a:rPr lang="en-US" sz="2200" b="1" dirty="0">
                <a:solidFill>
                  <a:srgbClr val="14213D"/>
                </a:solidFill>
                <a:latin typeface="Atkinson Hyperlegible Next Bold" pitchFamily="34" charset="0"/>
                <a:ea typeface="Atkinson Hyperlegible Next Bold" pitchFamily="34" charset="-122"/>
                <a:cs typeface="Atkinson Hyperlegible Next Bold" pitchFamily="34" charset="-120"/>
              </a:rPr>
              <a:t>Two separate links</a:t>
            </a:r>
            <a:endParaRPr lang="en-US" sz="2200" dirty="0"/>
          </a:p>
        </p:txBody>
      </p:sp>
      <p:sp>
        <p:nvSpPr>
          <p:cNvPr id="10" name="Shape 8"/>
          <p:cNvSpPr/>
          <p:nvPr/>
        </p:nvSpPr>
        <p:spPr>
          <a:xfrm>
            <a:off x="304792" y="3632994"/>
            <a:ext cx="1650959" cy="1260475"/>
          </a:xfrm>
          <a:prstGeom prst="rect">
            <a:avLst/>
          </a:prstGeom>
          <a:solidFill>
            <a:srgbClr val="14213D"/>
          </a:solidFill>
          <a:ln/>
        </p:spPr>
      </p:sp>
      <p:sp>
        <p:nvSpPr>
          <p:cNvPr id="11" name="Text 9"/>
          <p:cNvSpPr/>
          <p:nvPr/>
        </p:nvSpPr>
        <p:spPr>
          <a:xfrm>
            <a:off x="533387" y="3861594"/>
            <a:ext cx="1193770" cy="301625"/>
          </a:xfrm>
          <a:prstGeom prst="rect">
            <a:avLst/>
          </a:prstGeom>
          <a:noFill/>
          <a:ln/>
        </p:spPr>
        <p:txBody>
          <a:bodyPr wrap="none" lIns="0" tIns="0" rIns="0" bIns="0" rtlCol="0" anchor="t"/>
          <a:lstStyle/>
          <a:p>
            <a:pPr algn="l" indent="0" marL="0">
              <a:lnSpc>
                <a:spcPct val="104000"/>
              </a:lnSpc>
              <a:buNone/>
            </a:pPr>
            <a:r>
              <a:rPr lang="en-US" sz="1900" b="1" dirty="0">
                <a:solidFill>
                  <a:srgbClr val="FFFFFF"/>
                </a:solidFill>
                <a:latin typeface="Atkinson Hyperlegible Next Bold" pitchFamily="34" charset="0"/>
                <a:ea typeface="Atkinson Hyperlegible Next Bold" pitchFamily="34" charset="-122"/>
                <a:cs typeface="Atkinson Hyperlegible Next Bold" pitchFamily="34" charset="-120"/>
              </a:rPr>
              <a:t>SW0</a:t>
            </a:r>
            <a:endParaRPr lang="en-US" sz="1900" dirty="0"/>
          </a:p>
        </p:txBody>
      </p:sp>
      <p:sp>
        <p:nvSpPr>
          <p:cNvPr id="12" name="Text 10"/>
          <p:cNvSpPr/>
          <p:nvPr/>
        </p:nvSpPr>
        <p:spPr>
          <a:xfrm>
            <a:off x="2108147" y="3861594"/>
            <a:ext cx="1650959" cy="206375"/>
          </a:xfrm>
          <a:prstGeom prst="rect">
            <a:avLst/>
          </a:prstGeom>
          <a:noFill/>
          <a:ln/>
        </p:spPr>
        <p:txBody>
          <a:bodyPr wrap="none" lIns="0" tIns="0" rIns="0" bIns="0" rtlCol="0" anchor="t"/>
          <a:lstStyle/>
          <a:p>
            <a:pPr algn="l" indent="0" marL="0">
              <a:lnSpc>
                <a:spcPct val="108000"/>
              </a:lnSpc>
              <a:buNone/>
            </a:pPr>
            <a:r>
              <a:rPr lang="en-US" sz="1250" dirty="0">
                <a:solidFill>
                  <a:srgbClr val="14213D"/>
                </a:solidFill>
                <a:latin typeface="Atkinson Hyperlegible Next" pitchFamily="34" charset="0"/>
                <a:ea typeface="Atkinson Hyperlegible Next" pitchFamily="34" charset="-122"/>
                <a:cs typeface="Atkinson Hyperlegible Next" pitchFamily="34" charset="-120"/>
              </a:rPr>
              <a:t>Separate paths</a:t>
            </a:r>
            <a:endParaRPr lang="en-US" sz="1250" dirty="0"/>
          </a:p>
        </p:txBody>
      </p:sp>
      <p:sp>
        <p:nvSpPr>
          <p:cNvPr id="13" name="Shape 11"/>
          <p:cNvSpPr/>
          <p:nvPr/>
        </p:nvSpPr>
        <p:spPr>
          <a:xfrm>
            <a:off x="2108147" y="4244181"/>
            <a:ext cx="1650859" cy="69751"/>
          </a:xfrm>
          <a:prstGeom prst="roundRect">
            <a:avLst>
              <a:gd name="adj" fmla="val 49999"/>
            </a:avLst>
          </a:prstGeom>
          <a:solidFill>
            <a:srgbClr val="D23A22"/>
          </a:solidFill>
          <a:ln/>
        </p:spPr>
      </p:sp>
      <p:sp>
        <p:nvSpPr>
          <p:cNvPr id="14" name="Shape 12"/>
          <p:cNvSpPr/>
          <p:nvPr/>
        </p:nvSpPr>
        <p:spPr>
          <a:xfrm>
            <a:off x="2108147" y="4542631"/>
            <a:ext cx="1650859" cy="69751"/>
          </a:xfrm>
          <a:prstGeom prst="roundRect">
            <a:avLst>
              <a:gd name="adj" fmla="val 49999"/>
            </a:avLst>
          </a:prstGeom>
          <a:solidFill>
            <a:srgbClr val="D23A22"/>
          </a:solidFill>
          <a:ln/>
        </p:spPr>
      </p:sp>
      <p:sp>
        <p:nvSpPr>
          <p:cNvPr id="15" name="Shape 13"/>
          <p:cNvSpPr/>
          <p:nvPr/>
        </p:nvSpPr>
        <p:spPr>
          <a:xfrm>
            <a:off x="3911502" y="3632994"/>
            <a:ext cx="1650959" cy="1260475"/>
          </a:xfrm>
          <a:prstGeom prst="rect">
            <a:avLst/>
          </a:prstGeom>
          <a:solidFill>
            <a:srgbClr val="14213D"/>
          </a:solidFill>
          <a:ln/>
        </p:spPr>
      </p:sp>
      <p:sp>
        <p:nvSpPr>
          <p:cNvPr id="16" name="Text 14"/>
          <p:cNvSpPr/>
          <p:nvPr/>
        </p:nvSpPr>
        <p:spPr>
          <a:xfrm>
            <a:off x="4140096" y="3861594"/>
            <a:ext cx="1193770" cy="301625"/>
          </a:xfrm>
          <a:prstGeom prst="rect">
            <a:avLst/>
          </a:prstGeom>
          <a:noFill/>
          <a:ln/>
        </p:spPr>
        <p:txBody>
          <a:bodyPr wrap="none" lIns="0" tIns="0" rIns="0" bIns="0" rtlCol="0" anchor="t"/>
          <a:lstStyle/>
          <a:p>
            <a:pPr algn="l" indent="0" marL="0">
              <a:lnSpc>
                <a:spcPct val="104000"/>
              </a:lnSpc>
              <a:buNone/>
            </a:pPr>
            <a:r>
              <a:rPr lang="en-US" sz="1900" b="1" dirty="0">
                <a:solidFill>
                  <a:srgbClr val="FFFFFF"/>
                </a:solidFill>
                <a:latin typeface="Atkinson Hyperlegible Next Bold" pitchFamily="34" charset="0"/>
                <a:ea typeface="Atkinson Hyperlegible Next Bold" pitchFamily="34" charset="-122"/>
                <a:cs typeface="Atkinson Hyperlegible Next Bold" pitchFamily="34" charset="-120"/>
              </a:rPr>
              <a:t>SW2</a:t>
            </a:r>
            <a:endParaRPr lang="en-US" sz="1900" dirty="0"/>
          </a:p>
        </p:txBody>
      </p:sp>
      <p:sp>
        <p:nvSpPr>
          <p:cNvPr id="17" name="Text 15"/>
          <p:cNvSpPr/>
          <p:nvPr/>
        </p:nvSpPr>
        <p:spPr>
          <a:xfrm>
            <a:off x="304792" y="5083969"/>
            <a:ext cx="5257668" cy="604441"/>
          </a:xfrm>
          <a:prstGeom prst="rect">
            <a:avLst/>
          </a:prstGeom>
          <a:noFill/>
          <a:ln/>
        </p:spPr>
        <p:txBody>
          <a:bodyPr wrap="square" lIns="0" tIns="0" rIns="0" bIns="0" rtlCol="0" anchor="t">
            <a:normAutofit/>
          </a:bodyPr>
          <a:lstStyle/>
          <a:p>
            <a:pPr algn="l" indent="0" marL="0">
              <a:lnSpc>
                <a:spcPct val="117000"/>
              </a:lnSpc>
              <a:buNone/>
            </a:pPr>
            <a:r>
              <a:rPr lang="en-US" sz="1700" dirty="0">
                <a:solidFill>
                  <a:srgbClr val="14213D"/>
                </a:solidFill>
                <a:latin typeface="Atkinson Hyperlegible Next" pitchFamily="34" charset="0"/>
                <a:ea typeface="Atkinson Hyperlegible Next" pitchFamily="34" charset="-122"/>
                <a:cs typeface="Atkinson Hyperlegible Next" pitchFamily="34" charset="-120"/>
              </a:rPr>
              <a:t>Independent paths can complicate topology and loop control.</a:t>
            </a:r>
            <a:endParaRPr lang="en-US" sz="1700" dirty="0"/>
          </a:p>
        </p:txBody>
      </p:sp>
      <p:sp>
        <p:nvSpPr>
          <p:cNvPr id="18" name="Shape 16"/>
          <p:cNvSpPr/>
          <p:nvPr/>
        </p:nvSpPr>
        <p:spPr>
          <a:xfrm>
            <a:off x="6324442" y="1790502"/>
            <a:ext cx="5867253" cy="5067498"/>
          </a:xfrm>
          <a:prstGeom prst="roundRect">
            <a:avLst>
              <a:gd name="adj" fmla="val 3609"/>
            </a:avLst>
          </a:prstGeom>
          <a:solidFill>
            <a:srgbClr val="14213D"/>
          </a:solidFill>
          <a:ln/>
        </p:spPr>
      </p:sp>
      <p:sp>
        <p:nvSpPr>
          <p:cNvPr id="19" name="Shape 17"/>
          <p:cNvSpPr/>
          <p:nvPr/>
        </p:nvSpPr>
        <p:spPr>
          <a:xfrm>
            <a:off x="6629234" y="2044502"/>
            <a:ext cx="828753" cy="328017"/>
          </a:xfrm>
          <a:prstGeom prst="roundRect">
            <a:avLst>
              <a:gd name="adj" fmla="val 22115"/>
            </a:avLst>
          </a:prstGeom>
          <a:solidFill>
            <a:srgbClr val="F8D8D3"/>
          </a:solidFill>
          <a:ln/>
        </p:spPr>
      </p:sp>
      <p:sp>
        <p:nvSpPr>
          <p:cNvPr id="20" name="Text 18"/>
          <p:cNvSpPr/>
          <p:nvPr/>
        </p:nvSpPr>
        <p:spPr>
          <a:xfrm>
            <a:off x="6758711" y="2109192"/>
            <a:ext cx="1179384" cy="198636"/>
          </a:xfrm>
          <a:prstGeom prst="rect">
            <a:avLst/>
          </a:prstGeom>
          <a:noFill/>
          <a:ln/>
        </p:spPr>
        <p:txBody>
          <a:bodyPr wrap="none" lIns="0" tIns="0" rIns="0" bIns="0" rtlCol="0" anchor="t"/>
          <a:lstStyle/>
          <a:p>
            <a:pPr algn="l" indent="0" marL="0">
              <a:lnSpc>
                <a:spcPct val="96000"/>
              </a:lnSpc>
              <a:buNone/>
            </a:pPr>
            <a:r>
              <a:rPr lang="en-US" sz="1350" spc="14" kern="100" dirty="0">
                <a:solidFill>
                  <a:srgbClr val="14213D"/>
                </a:solidFill>
                <a:latin typeface="Overpass ExtraBold" pitchFamily="34" charset="0"/>
                <a:ea typeface="Overpass ExtraBold" pitchFamily="34" charset="-122"/>
                <a:cs typeface="Overpass ExtraBold" pitchFamily="34" charset="-120"/>
              </a:rPr>
              <a:t>AFTER</a:t>
            </a:r>
            <a:endParaRPr lang="en-US" sz="1350" dirty="0"/>
          </a:p>
        </p:txBody>
      </p:sp>
      <p:sp>
        <p:nvSpPr>
          <p:cNvPr id="21" name="Text 19"/>
          <p:cNvSpPr/>
          <p:nvPr/>
        </p:nvSpPr>
        <p:spPr>
          <a:xfrm>
            <a:off x="6629234" y="2458244"/>
            <a:ext cx="5257668" cy="349250"/>
          </a:xfrm>
          <a:prstGeom prst="rect">
            <a:avLst/>
          </a:prstGeom>
          <a:noFill/>
          <a:ln/>
        </p:spPr>
        <p:txBody>
          <a:bodyPr wrap="none" lIns="0" tIns="0" rIns="0" bIns="0" rtlCol="0" anchor="t"/>
          <a:lstStyle/>
          <a:p>
            <a:pPr algn="l" indent="0" marL="0">
              <a:lnSpc>
                <a:spcPct val="104000"/>
              </a:lnSpc>
              <a:buNone/>
            </a:pPr>
            <a:r>
              <a:rPr lang="en-US" sz="2200" b="1" dirty="0">
                <a:solidFill>
                  <a:srgbClr val="FFFFFF"/>
                </a:solidFill>
                <a:latin typeface="Atkinson Hyperlegible Next Bold" pitchFamily="34" charset="0"/>
                <a:ea typeface="Atkinson Hyperlegible Next Bold" pitchFamily="34" charset="-122"/>
                <a:cs typeface="Atkinson Hyperlegible Next Bold" pitchFamily="34" charset="-120"/>
              </a:rPr>
              <a:t>One Port-Channel</a:t>
            </a:r>
            <a:endParaRPr lang="en-US" sz="2200" dirty="0"/>
          </a:p>
        </p:txBody>
      </p:sp>
      <p:sp>
        <p:nvSpPr>
          <p:cNvPr id="22" name="Shape 20"/>
          <p:cNvSpPr/>
          <p:nvPr/>
        </p:nvSpPr>
        <p:spPr>
          <a:xfrm>
            <a:off x="6629234" y="2959894"/>
            <a:ext cx="1650959" cy="1625600"/>
          </a:xfrm>
          <a:prstGeom prst="rect">
            <a:avLst/>
          </a:prstGeom>
          <a:solidFill>
            <a:srgbClr val="FFFFFF"/>
          </a:solidFill>
          <a:ln/>
        </p:spPr>
      </p:sp>
      <p:sp>
        <p:nvSpPr>
          <p:cNvPr id="23" name="Text 21"/>
          <p:cNvSpPr/>
          <p:nvPr/>
        </p:nvSpPr>
        <p:spPr>
          <a:xfrm>
            <a:off x="6857828" y="3188494"/>
            <a:ext cx="1193770" cy="301625"/>
          </a:xfrm>
          <a:prstGeom prst="rect">
            <a:avLst/>
          </a:prstGeom>
          <a:noFill/>
          <a:ln/>
        </p:spPr>
        <p:txBody>
          <a:bodyPr wrap="none" lIns="0" tIns="0" rIns="0" bIns="0" rtlCol="0" anchor="t"/>
          <a:lstStyle/>
          <a:p>
            <a:pPr algn="l" indent="0" marL="0">
              <a:lnSpc>
                <a:spcPct val="104000"/>
              </a:lnSpc>
              <a:buNone/>
            </a:pPr>
            <a:r>
              <a:rPr lang="en-US" sz="1900" b="1" dirty="0">
                <a:solidFill>
                  <a:srgbClr val="000000"/>
                </a:solidFill>
                <a:latin typeface="Atkinson Hyperlegible Next Bold" pitchFamily="34" charset="0"/>
                <a:ea typeface="Atkinson Hyperlegible Next Bold" pitchFamily="34" charset="-122"/>
                <a:cs typeface="Atkinson Hyperlegible Next Bold" pitchFamily="34" charset="-120"/>
              </a:rPr>
              <a:t>SW0</a:t>
            </a:r>
            <a:endParaRPr lang="en-US" sz="1900" dirty="0"/>
          </a:p>
        </p:txBody>
      </p:sp>
      <p:sp>
        <p:nvSpPr>
          <p:cNvPr id="24" name="Shape 22"/>
          <p:cNvSpPr/>
          <p:nvPr/>
        </p:nvSpPr>
        <p:spPr>
          <a:xfrm>
            <a:off x="8432589" y="2959894"/>
            <a:ext cx="1650959" cy="1625600"/>
          </a:xfrm>
          <a:prstGeom prst="rect">
            <a:avLst/>
          </a:prstGeom>
          <a:solidFill>
            <a:srgbClr val="1F4FD1"/>
          </a:solidFill>
          <a:ln/>
        </p:spPr>
      </p:sp>
      <p:sp>
        <p:nvSpPr>
          <p:cNvPr id="25" name="Text 23"/>
          <p:cNvSpPr/>
          <p:nvPr/>
        </p:nvSpPr>
        <p:spPr>
          <a:xfrm>
            <a:off x="8661183" y="3188494"/>
            <a:ext cx="1193770" cy="603250"/>
          </a:xfrm>
          <a:prstGeom prst="rect">
            <a:avLst/>
          </a:prstGeom>
          <a:noFill/>
          <a:ln/>
        </p:spPr>
        <p:txBody>
          <a:bodyPr wrap="square" lIns="0" tIns="0" rIns="0" bIns="0" rtlCol="0" anchor="t">
            <a:normAutofit/>
          </a:bodyPr>
          <a:lstStyle/>
          <a:p>
            <a:pPr algn="l" indent="0" marL="0">
              <a:lnSpc>
                <a:spcPct val="104000"/>
              </a:lnSpc>
              <a:buNone/>
            </a:pPr>
            <a:r>
              <a:rPr lang="en-US" sz="1900" b="1" dirty="0">
                <a:solidFill>
                  <a:srgbClr val="FFFFFF"/>
                </a:solidFill>
                <a:latin typeface="Atkinson Hyperlegible Next Bold" pitchFamily="34" charset="0"/>
                <a:ea typeface="Atkinson Hyperlegible Next Bold" pitchFamily="34" charset="-122"/>
                <a:cs typeface="Atkinson Hyperlegible Next Bold" pitchFamily="34" charset="-120"/>
              </a:rPr>
              <a:t>Po1 · LACP</a:t>
            </a:r>
            <a:endParaRPr lang="en-US" sz="1900" dirty="0"/>
          </a:p>
        </p:txBody>
      </p:sp>
      <p:sp>
        <p:nvSpPr>
          <p:cNvPr id="26" name="Text 24"/>
          <p:cNvSpPr/>
          <p:nvPr/>
        </p:nvSpPr>
        <p:spPr>
          <a:xfrm>
            <a:off x="8661183" y="3944144"/>
            <a:ext cx="1193770" cy="412750"/>
          </a:xfrm>
          <a:prstGeom prst="rect">
            <a:avLst/>
          </a:prstGeom>
          <a:noFill/>
          <a:ln/>
        </p:spPr>
        <p:txBody>
          <a:bodyPr wrap="square" lIns="0" tIns="0" rIns="0" bIns="0" rtlCol="0" anchor="t">
            <a:normAutofit/>
          </a:bodyPr>
          <a:lstStyle/>
          <a:p>
            <a:pPr algn="l" indent="0" marL="0">
              <a:lnSpc>
                <a:spcPct val="108000"/>
              </a:lnSpc>
              <a:buNone/>
            </a:pPr>
            <a:r>
              <a:rPr lang="en-US" sz="1250" dirty="0">
                <a:solidFill>
                  <a:srgbClr val="FFFFFF"/>
                </a:solidFill>
                <a:latin typeface="Atkinson Hyperlegible Next" pitchFamily="34" charset="0"/>
                <a:ea typeface="Atkinson Hyperlegible Next" pitchFamily="34" charset="-122"/>
                <a:cs typeface="Atkinson Hyperlegible Next" pitchFamily="34" charset="-120"/>
              </a:rPr>
              <a:t>Two member links</a:t>
            </a:r>
            <a:endParaRPr lang="en-US" sz="1250" dirty="0"/>
          </a:p>
        </p:txBody>
      </p:sp>
      <p:sp>
        <p:nvSpPr>
          <p:cNvPr id="27" name="Shape 25"/>
          <p:cNvSpPr/>
          <p:nvPr/>
        </p:nvSpPr>
        <p:spPr>
          <a:xfrm>
            <a:off x="10235944" y="2959894"/>
            <a:ext cx="1650959" cy="1625600"/>
          </a:xfrm>
          <a:prstGeom prst="rect">
            <a:avLst/>
          </a:prstGeom>
          <a:solidFill>
            <a:srgbClr val="FFFFFF"/>
          </a:solidFill>
          <a:ln/>
        </p:spPr>
      </p:sp>
      <p:sp>
        <p:nvSpPr>
          <p:cNvPr id="28" name="Text 26"/>
          <p:cNvSpPr/>
          <p:nvPr/>
        </p:nvSpPr>
        <p:spPr>
          <a:xfrm>
            <a:off x="10464538" y="3188494"/>
            <a:ext cx="1193770" cy="301625"/>
          </a:xfrm>
          <a:prstGeom prst="rect">
            <a:avLst/>
          </a:prstGeom>
          <a:noFill/>
          <a:ln/>
        </p:spPr>
        <p:txBody>
          <a:bodyPr wrap="none" lIns="0" tIns="0" rIns="0" bIns="0" rtlCol="0" anchor="t"/>
          <a:lstStyle/>
          <a:p>
            <a:pPr algn="l" indent="0" marL="0">
              <a:lnSpc>
                <a:spcPct val="104000"/>
              </a:lnSpc>
              <a:buNone/>
            </a:pPr>
            <a:r>
              <a:rPr lang="en-US" sz="1900" b="1" dirty="0">
                <a:solidFill>
                  <a:srgbClr val="000000"/>
                </a:solidFill>
                <a:latin typeface="Atkinson Hyperlegible Next Bold" pitchFamily="34" charset="0"/>
                <a:ea typeface="Atkinson Hyperlegible Next Bold" pitchFamily="34" charset="-122"/>
                <a:cs typeface="Atkinson Hyperlegible Next Bold" pitchFamily="34" charset="-120"/>
              </a:rPr>
              <a:t>SW2</a:t>
            </a:r>
            <a:endParaRPr lang="en-US" sz="1900" dirty="0"/>
          </a:p>
        </p:txBody>
      </p:sp>
      <p:sp>
        <p:nvSpPr>
          <p:cNvPr id="29" name="Text 27"/>
          <p:cNvSpPr/>
          <p:nvPr/>
        </p:nvSpPr>
        <p:spPr>
          <a:xfrm>
            <a:off x="6629234" y="4775994"/>
            <a:ext cx="5257668" cy="1511102"/>
          </a:xfrm>
          <a:prstGeom prst="rect">
            <a:avLst/>
          </a:prstGeom>
          <a:noFill/>
          <a:ln/>
        </p:spPr>
        <p:txBody>
          <a:bodyPr wrap="square" lIns="0" tIns="0" rIns="0" bIns="0" rtlCol="0" anchor="t">
            <a:normAutofit/>
          </a:bodyPr>
          <a:lstStyle/>
          <a:p>
            <a:pPr algn="l" indent="0" marL="0">
              <a:lnSpc>
                <a:spcPct val="117000"/>
              </a:lnSpc>
              <a:buNone/>
            </a:pPr>
            <a:r>
              <a:rPr lang="en-US" sz="1700" dirty="0">
                <a:solidFill>
                  <a:srgbClr val="FFFFFF"/>
                </a:solidFill>
                <a:latin typeface="Atkinson Hyperlegible Next" pitchFamily="34" charset="0"/>
                <a:ea typeface="Atkinson Hyperlegible Next" pitchFamily="34" charset="-122"/>
                <a:cs typeface="Atkinson Hyperlegible Next" pitchFamily="34" charset="-120"/>
              </a:rPr>
              <a:t>LACP bundles parallel links into one Port-Channel. Traffic distributes across members, increasing bandwidth without changing the logical topology. One member failure can be absorbed without losing the bundle.</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3911502" cy="6885781"/>
          </a:xfrm>
          <a:prstGeom prst="roundRect">
            <a:avLst>
              <a:gd name="adj" fmla="val 3117"/>
            </a:avLst>
          </a:prstGeom>
          <a:solidFill>
            <a:srgbClr val="14213D"/>
          </a:solidFill>
          <a:ln/>
        </p:spPr>
      </p:sp>
      <p:sp>
        <p:nvSpPr>
          <p:cNvPr id="3" name="Text 1"/>
          <p:cNvSpPr/>
          <p:nvPr/>
        </p:nvSpPr>
        <p:spPr>
          <a:xfrm>
            <a:off x="304792" y="355600"/>
            <a:ext cx="3606710" cy="198041"/>
          </a:xfrm>
          <a:prstGeom prst="rect">
            <a:avLst/>
          </a:prstGeom>
          <a:noFill/>
          <a:ln/>
        </p:spPr>
        <p:txBody>
          <a:bodyPr wrap="none" lIns="0" tIns="0" rIns="0" bIns="0" rtlCol="0" anchor="t"/>
          <a:lstStyle/>
          <a:p>
            <a:pPr algn="l" indent="0" marL="0">
              <a:lnSpc>
                <a:spcPct val="100000"/>
              </a:lnSpc>
              <a:buNone/>
            </a:pPr>
            <a:r>
              <a:rPr lang="en-US" sz="1300" b="1" spc="13" kern="100" dirty="0">
                <a:solidFill>
                  <a:srgbClr val="FFFFFF"/>
                </a:solidFill>
                <a:latin typeface="Atkinson Hyperlegible Next Bold" pitchFamily="34" charset="0"/>
                <a:ea typeface="Atkinson Hyperlegible Next Bold" pitchFamily="34" charset="-122"/>
                <a:cs typeface="Atkinson Hyperlegible Next Bold" pitchFamily="34" charset="-120"/>
              </a:rPr>
              <a:t>CONTROLLED ROUTING</a:t>
            </a:r>
            <a:endParaRPr lang="en-US" sz="1300" dirty="0"/>
          </a:p>
        </p:txBody>
      </p:sp>
      <p:sp>
        <p:nvSpPr>
          <p:cNvPr id="4" name="Text 2"/>
          <p:cNvSpPr/>
          <p:nvPr/>
        </p:nvSpPr>
        <p:spPr>
          <a:xfrm>
            <a:off x="304792" y="639366"/>
            <a:ext cx="3301917" cy="3264098"/>
          </a:xfrm>
          <a:prstGeom prst="rect">
            <a:avLst/>
          </a:prstGeom>
          <a:noFill/>
          <a:ln/>
        </p:spPr>
        <p:txBody>
          <a:bodyPr wrap="square" lIns="0" tIns="0" rIns="0" bIns="0" rtlCol="0" anchor="t">
            <a:normAutofit/>
          </a:bodyPr>
          <a:lstStyle/>
          <a:p>
            <a:pPr algn="l" indent="0" marL="0">
              <a:lnSpc>
                <a:spcPct val="85000"/>
              </a:lnSpc>
              <a:buNone/>
            </a:pPr>
            <a:r>
              <a:rPr lang="en-US" sz="4200" spc="-21" kern="100" dirty="0">
                <a:solidFill>
                  <a:srgbClr val="FFFFFF"/>
                </a:solidFill>
                <a:latin typeface="Overpass ExtraBold" pitchFamily="34" charset="0"/>
                <a:ea typeface="Overpass ExtraBold" pitchFamily="34" charset="-122"/>
                <a:cs typeface="Overpass ExtraBold" pitchFamily="34" charset="-120"/>
              </a:rPr>
              <a:t>Router-on-a-Stick enables controlled inter-VLAN routing</a:t>
            </a:r>
            <a:endParaRPr lang="en-US" sz="4200" dirty="0"/>
          </a:p>
        </p:txBody>
      </p:sp>
      <p:sp>
        <p:nvSpPr>
          <p:cNvPr id="5" name="Text 3"/>
          <p:cNvSpPr/>
          <p:nvPr/>
        </p:nvSpPr>
        <p:spPr>
          <a:xfrm>
            <a:off x="304792" y="5925741"/>
            <a:ext cx="3301917" cy="604441"/>
          </a:xfrm>
          <a:prstGeom prst="rect">
            <a:avLst/>
          </a:prstGeom>
          <a:noFill/>
          <a:ln/>
        </p:spPr>
        <p:txBody>
          <a:bodyPr wrap="square" lIns="0" tIns="0" rIns="0" bIns="0" rtlCol="0" anchor="t">
            <a:normAutofit/>
          </a:bodyPr>
          <a:lstStyle/>
          <a:p>
            <a:pPr algn="l" indent="0" marL="0">
              <a:lnSpc>
                <a:spcPct val="117000"/>
              </a:lnSpc>
              <a:buNone/>
            </a:pPr>
            <a:r>
              <a:rPr lang="en-US" sz="1700" dirty="0">
                <a:solidFill>
                  <a:srgbClr val="FFFFFF"/>
                </a:solidFill>
                <a:latin typeface="Atkinson Hyperlegible Next" pitchFamily="34" charset="0"/>
                <a:ea typeface="Atkinson Hyperlegible Next" pitchFamily="34" charset="-122"/>
                <a:cs typeface="Atkinson Hyperlegible Next" pitchFamily="34" charset="-120"/>
              </a:rPr>
              <a:t>One trunk, multiple subinterfaces, explicit policy.</a:t>
            </a:r>
            <a:endParaRPr lang="en-US" sz="1700" dirty="0"/>
          </a:p>
        </p:txBody>
      </p:sp>
      <p:sp>
        <p:nvSpPr>
          <p:cNvPr id="6" name="Shape 4"/>
          <p:cNvSpPr/>
          <p:nvPr/>
        </p:nvSpPr>
        <p:spPr>
          <a:xfrm>
            <a:off x="4876678" y="508000"/>
            <a:ext cx="2065782" cy="758825"/>
          </a:xfrm>
          <a:prstGeom prst="rect">
            <a:avLst/>
          </a:prstGeom>
          <a:solidFill>
            <a:srgbClr val="1F4FD1"/>
          </a:solidFill>
          <a:ln/>
        </p:spPr>
      </p:sp>
      <p:sp>
        <p:nvSpPr>
          <p:cNvPr id="7" name="Text 5"/>
          <p:cNvSpPr/>
          <p:nvPr/>
        </p:nvSpPr>
        <p:spPr>
          <a:xfrm>
            <a:off x="5105272" y="736600"/>
            <a:ext cx="1608593" cy="301625"/>
          </a:xfrm>
          <a:prstGeom prst="rect">
            <a:avLst/>
          </a:prstGeom>
          <a:noFill/>
          <a:ln/>
        </p:spPr>
        <p:txBody>
          <a:bodyPr wrap="none" lIns="0" tIns="0" rIns="0" bIns="0" rtlCol="0" anchor="t"/>
          <a:lstStyle/>
          <a:p>
            <a:pPr algn="l" indent="0" marL="0">
              <a:lnSpc>
                <a:spcPct val="104000"/>
              </a:lnSpc>
              <a:buNone/>
            </a:pPr>
            <a:r>
              <a:rPr lang="en-US" sz="1900" b="1" dirty="0">
                <a:solidFill>
                  <a:srgbClr val="FFFFFF"/>
                </a:solidFill>
                <a:latin typeface="Atkinson Hyperlegible Next Bold" pitchFamily="34" charset="0"/>
                <a:ea typeface="Atkinson Hyperlegible Next Bold" pitchFamily="34" charset="-122"/>
                <a:cs typeface="Atkinson Hyperlegible Next Bold" pitchFamily="34" charset="-120"/>
              </a:rPr>
              <a:t>Router</a:t>
            </a:r>
            <a:endParaRPr lang="en-US" sz="1900" dirty="0"/>
          </a:p>
        </p:txBody>
      </p:sp>
      <p:sp>
        <p:nvSpPr>
          <p:cNvPr id="8" name="Shape 6"/>
          <p:cNvSpPr/>
          <p:nvPr/>
        </p:nvSpPr>
        <p:spPr>
          <a:xfrm>
            <a:off x="7247252" y="508000"/>
            <a:ext cx="2065782" cy="758825"/>
          </a:xfrm>
          <a:prstGeom prst="rect">
            <a:avLst/>
          </a:prstGeom>
          <a:solidFill>
            <a:srgbClr val="EAF0F7"/>
          </a:solidFill>
          <a:ln/>
        </p:spPr>
      </p:sp>
      <p:sp>
        <p:nvSpPr>
          <p:cNvPr id="9" name="Text 7"/>
          <p:cNvSpPr/>
          <p:nvPr/>
        </p:nvSpPr>
        <p:spPr>
          <a:xfrm>
            <a:off x="7475847" y="736600"/>
            <a:ext cx="1608593" cy="301625"/>
          </a:xfrm>
          <a:prstGeom prst="rect">
            <a:avLst/>
          </a:prstGeom>
          <a:noFill/>
          <a:ln/>
        </p:spPr>
        <p:txBody>
          <a:bodyPr wrap="none" lIns="0" tIns="0" rIns="0" bIns="0" rtlCol="0" anchor="t"/>
          <a:lstStyle/>
          <a:p>
            <a:pPr algn="l" indent="0" marL="0">
              <a:lnSpc>
                <a:spcPct val="104000"/>
              </a:lnSpc>
              <a:buNone/>
            </a:pPr>
            <a:r>
              <a:rPr lang="en-US" sz="1900" b="1" dirty="0">
                <a:solidFill>
                  <a:srgbClr val="000000"/>
                </a:solidFill>
                <a:latin typeface="Atkinson Hyperlegible Next Bold" pitchFamily="34" charset="0"/>
                <a:ea typeface="Atkinson Hyperlegible Next Bold" pitchFamily="34" charset="-122"/>
                <a:cs typeface="Atkinson Hyperlegible Next Bold" pitchFamily="34" charset="-120"/>
              </a:rPr>
              <a:t>802.1Q trunk</a:t>
            </a:r>
            <a:endParaRPr lang="en-US" sz="1900" dirty="0"/>
          </a:p>
        </p:txBody>
      </p:sp>
      <p:sp>
        <p:nvSpPr>
          <p:cNvPr id="10" name="Shape 8"/>
          <p:cNvSpPr/>
          <p:nvPr/>
        </p:nvSpPr>
        <p:spPr>
          <a:xfrm>
            <a:off x="9617827" y="508000"/>
            <a:ext cx="2065782" cy="758825"/>
          </a:xfrm>
          <a:prstGeom prst="rect">
            <a:avLst/>
          </a:prstGeom>
          <a:solidFill>
            <a:srgbClr val="14213D"/>
          </a:solidFill>
          <a:ln/>
        </p:spPr>
      </p:sp>
      <p:sp>
        <p:nvSpPr>
          <p:cNvPr id="11" name="Text 9"/>
          <p:cNvSpPr/>
          <p:nvPr/>
        </p:nvSpPr>
        <p:spPr>
          <a:xfrm>
            <a:off x="9846421" y="736600"/>
            <a:ext cx="1608593" cy="301625"/>
          </a:xfrm>
          <a:prstGeom prst="rect">
            <a:avLst/>
          </a:prstGeom>
          <a:noFill/>
          <a:ln/>
        </p:spPr>
        <p:txBody>
          <a:bodyPr wrap="none" lIns="0" tIns="0" rIns="0" bIns="0" rtlCol="0" anchor="t"/>
          <a:lstStyle/>
          <a:p>
            <a:pPr algn="l" indent="0" marL="0">
              <a:lnSpc>
                <a:spcPct val="104000"/>
              </a:lnSpc>
              <a:buNone/>
            </a:pPr>
            <a:r>
              <a:rPr lang="en-US" sz="1900" b="1" dirty="0">
                <a:solidFill>
                  <a:srgbClr val="FFFFFF"/>
                </a:solidFill>
                <a:latin typeface="Atkinson Hyperlegible Next Bold" pitchFamily="34" charset="0"/>
                <a:ea typeface="Atkinson Hyperlegible Next Bold" pitchFamily="34" charset="-122"/>
                <a:cs typeface="Atkinson Hyperlegible Next Bold" pitchFamily="34" charset="-120"/>
              </a:rPr>
              <a:t>Switch</a:t>
            </a:r>
            <a:endParaRPr lang="en-US" sz="1900" dirty="0"/>
          </a:p>
        </p:txBody>
      </p:sp>
      <p:sp>
        <p:nvSpPr>
          <p:cNvPr id="12" name="Text 10"/>
          <p:cNvSpPr/>
          <p:nvPr/>
        </p:nvSpPr>
        <p:spPr>
          <a:xfrm>
            <a:off x="4876678" y="1628775"/>
            <a:ext cx="6807030" cy="349250"/>
          </a:xfrm>
          <a:prstGeom prst="rect">
            <a:avLst/>
          </a:prstGeom>
          <a:noFill/>
          <a:ln/>
        </p:spPr>
        <p:txBody>
          <a:bodyPr wrap="none" lIns="0" tIns="0" rIns="0" bIns="0" rtlCol="0" anchor="t"/>
          <a:lstStyle/>
          <a:p>
            <a:pPr algn="l" indent="0" marL="0">
              <a:lnSpc>
                <a:spcPct val="104000"/>
              </a:lnSpc>
              <a:buNone/>
            </a:pPr>
            <a:r>
              <a:rPr lang="en-US" sz="2200" b="1" dirty="0">
                <a:solidFill>
                  <a:srgbClr val="14213D"/>
                </a:solidFill>
                <a:latin typeface="Atkinson Hyperlegible Next Bold" pitchFamily="34" charset="0"/>
                <a:ea typeface="Atkinson Hyperlegible Next Bold" pitchFamily="34" charset="-122"/>
                <a:cs typeface="Atkinson Hyperlegible Next Bold" pitchFamily="34" charset="-120"/>
              </a:rPr>
              <a:t>Router subinterfaces map to VLANs</a:t>
            </a:r>
            <a:endParaRPr lang="en-US" sz="2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876678" y="2130425"/>
          <a:ext cx="6807030" cy="914400"/>
        </p:xfrm>
        <a:graphic>
          <a:graphicData uri="http://schemas.openxmlformats.org/drawingml/2006/table">
            <a:tbl>
              <a:tblPr/>
              <a:tblGrid>
                <a:gridCol w="3948014"/>
                <a:gridCol w="2859016"/>
              </a:tblGrid>
              <a:tr h="487549">
                <a:tc>
                  <a:txBody>
                    <a:bodyPr/>
                    <a:lstStyle/>
                    <a:p>
                      <a:pPr algn="l" indent="0" marL="0">
                        <a:buNone/>
                      </a:pPr>
                      <a:r>
                        <a:rPr lang="en-US" sz="1700" dirty="0">
                          <a:solidFill>
                            <a:srgbClr val="14213D"/>
                          </a:solidFill>
                          <a:latin typeface="Atkinson Hyperlegible Next" pitchFamily="34" charset="0"/>
                          <a:ea typeface="Atkinson Hyperlegible Next" pitchFamily="34" charset="-122"/>
                          <a:cs typeface="Atkinson Hyperlegible Next" pitchFamily="34" charset="-120"/>
                        </a:rPr>
                        <a:t>Router subinterface</a:t>
                      </a:r>
                      <a:endParaRPr lang="en-US" sz="1700" dirty="0">
                        <a:latin typeface="Atkinson Hyperlegible Next" charset="0"/>
                        <a:ea typeface="Atkinson Hyperlegible Next" charset="0"/>
                        <a:cs typeface="Atkinson Hyperlegible Next" charset="0"/>
                      </a:endParaRPr>
                    </a:p>
                  </a:txBody>
                  <a:tcPr marL="161921" marR="161921" marT="86358" marB="86358" anchor="ctr">
                    <a:lnL w="12700" cap="flat" cmpd="sng" algn="ctr">
                      <a:solidFill>
                        <a:srgbClr val="F7FAFC"/>
                      </a:solidFill>
                      <a:prstDash val="solid"/>
                      <a:round/>
                      <a:headEnd type="none" w="med" len="med"/>
                      <a:tailEnd type="none" w="med" len="med"/>
                    </a:lnL>
                    <a:lnR w="12700" cap="flat" cmpd="sng" algn="ctr">
                      <a:solidFill>
                        <a:srgbClr val="F7FAFC"/>
                      </a:solidFill>
                      <a:prstDash val="solid"/>
                      <a:round/>
                      <a:headEnd type="none" w="med" len="med"/>
                      <a:tailEnd type="none" w="med" len="med"/>
                    </a:lnR>
                    <a:lnT w="12700" cap="flat" cmpd="sng" algn="ctr">
                      <a:solidFill>
                        <a:srgbClr val="F7FAFC"/>
                      </a:solidFill>
                      <a:prstDash val="solid"/>
                      <a:round/>
                      <a:headEnd type="none" w="med" len="med"/>
                      <a:tailEnd type="none" w="med" len="med"/>
                    </a:lnT>
                    <a:lnB w="12700" cap="flat" cmpd="sng" algn="ctr">
                      <a:solidFill>
                        <a:srgbClr val="C9D3E0"/>
                      </a:solidFill>
                      <a:prstDash val="solid"/>
                      <a:round/>
                      <a:headEnd type="none" w="med" len="med"/>
                      <a:tailEnd type="none" w="med" len="med"/>
                    </a:lnB>
                  </a:tcPr>
                </a:tc>
                <a:tc>
                  <a:txBody>
                    <a:bodyPr/>
                    <a:lstStyle/>
                    <a:p>
                      <a:pPr algn="l" indent="0" marL="0">
                        <a:buNone/>
                      </a:pPr>
                      <a:r>
                        <a:rPr lang="en-US" sz="1700" dirty="0">
                          <a:solidFill>
                            <a:srgbClr val="14213D"/>
                          </a:solidFill>
                          <a:latin typeface="Atkinson Hyperlegible Next" pitchFamily="34" charset="0"/>
                          <a:ea typeface="Atkinson Hyperlegible Next" pitchFamily="34" charset="-122"/>
                          <a:cs typeface="Atkinson Hyperlegible Next" pitchFamily="34" charset="-120"/>
                        </a:rPr>
                        <a:t>VLAN</a:t>
                      </a:r>
                      <a:endParaRPr lang="en-US" sz="1700" dirty="0">
                        <a:latin typeface="Atkinson Hyperlegible Next" charset="0"/>
                        <a:ea typeface="Atkinson Hyperlegible Next" charset="0"/>
                        <a:cs typeface="Atkinson Hyperlegible Next" charset="0"/>
                      </a:endParaRPr>
                    </a:p>
                  </a:txBody>
                  <a:tcPr marL="161921" marR="161921" marT="86358" marB="86358" anchor="ctr">
                    <a:lnL w="12700" cap="flat" cmpd="sng" algn="ctr">
                      <a:solidFill>
                        <a:srgbClr val="F7FAFC"/>
                      </a:solidFill>
                      <a:prstDash val="solid"/>
                      <a:round/>
                      <a:headEnd type="none" w="med" len="med"/>
                      <a:tailEnd type="none" w="med" len="med"/>
                    </a:lnL>
                    <a:lnR w="12700" cap="flat" cmpd="sng" algn="ctr">
                      <a:solidFill>
                        <a:srgbClr val="F7FAFC"/>
                      </a:solidFill>
                      <a:prstDash val="solid"/>
                      <a:round/>
                      <a:headEnd type="none" w="med" len="med"/>
                      <a:tailEnd type="none" w="med" len="med"/>
                    </a:lnR>
                    <a:lnT w="12700" cap="flat" cmpd="sng" algn="ctr">
                      <a:solidFill>
                        <a:srgbClr val="F7FAFC"/>
                      </a:solidFill>
                      <a:prstDash val="solid"/>
                      <a:round/>
                      <a:headEnd type="none" w="med" len="med"/>
                      <a:tailEnd type="none" w="med" len="med"/>
                    </a:lnT>
                    <a:lnB w="12700" cap="flat" cmpd="sng" algn="ctr">
                      <a:solidFill>
                        <a:srgbClr val="C9D3E0"/>
                      </a:solidFill>
                      <a:prstDash val="solid"/>
                      <a:round/>
                      <a:headEnd type="none" w="med" len="med"/>
                      <a:tailEnd type="none" w="med" len="med"/>
                    </a:lnB>
                  </a:tcPr>
                </a:tc>
              </a:tr>
              <a:tr h="487549">
                <a:tc>
                  <a:txBody>
                    <a:bodyPr/>
                    <a:lstStyle/>
                    <a:p>
                      <a:pPr algn="l" indent="0" marL="0">
                        <a:buNone/>
                      </a:pPr>
                      <a:r>
                        <a:rPr lang="en-US" sz="1700" dirty="0">
                          <a:solidFill>
                            <a:srgbClr val="14213D"/>
                          </a:solidFill>
                          <a:latin typeface="Atkinson Hyperlegible Next" pitchFamily="34" charset="0"/>
                          <a:ea typeface="Atkinson Hyperlegible Next" pitchFamily="34" charset="-122"/>
                          <a:cs typeface="Atkinson Hyperlegible Next" pitchFamily="34" charset="-120"/>
                        </a:rPr>
                        <a:t>Gi0/0.13</a:t>
                      </a:r>
                      <a:endParaRPr lang="en-US" sz="1700" dirty="0">
                        <a:latin typeface="Atkinson Hyperlegible Next" charset="0"/>
                        <a:ea typeface="Atkinson Hyperlegible Next" charset="0"/>
                        <a:cs typeface="Atkinson Hyperlegible Next" charset="0"/>
                      </a:endParaRPr>
                    </a:p>
                  </a:txBody>
                  <a:tcPr marL="161921" marR="161921" marT="86358" marB="86358" anchor="ctr">
                    <a:lnL w="12700" cap="flat" cmpd="sng" algn="ctr">
                      <a:solidFill>
                        <a:srgbClr val="F7FAFC"/>
                      </a:solidFill>
                      <a:prstDash val="solid"/>
                      <a:round/>
                      <a:headEnd type="none" w="med" len="med"/>
                      <a:tailEnd type="none" w="med" len="med"/>
                    </a:lnL>
                    <a:lnR w="12700" cap="flat" cmpd="sng" algn="ctr">
                      <a:solidFill>
                        <a:srgbClr val="F7FAFC"/>
                      </a:solidFill>
                      <a:prstDash val="solid"/>
                      <a:round/>
                      <a:headEnd type="none" w="med" len="med"/>
                      <a:tailEnd type="none" w="med" len="med"/>
                    </a:lnR>
                    <a:lnT w="12700" cap="flat" cmpd="sng" algn="ctr">
                      <a:solidFill>
                        <a:srgbClr val="C9D3E0"/>
                      </a:solidFill>
                      <a:prstDash val="solid"/>
                      <a:round/>
                      <a:headEnd type="none" w="med" len="med"/>
                      <a:tailEnd type="none" w="med" len="med"/>
                    </a:lnT>
                    <a:lnB w="12700" cap="flat" cmpd="sng" algn="ctr">
                      <a:solidFill>
                        <a:srgbClr val="C9D3E0"/>
                      </a:solidFill>
                      <a:prstDash val="solid"/>
                      <a:round/>
                      <a:headEnd type="none" w="med" len="med"/>
                      <a:tailEnd type="none" w="med" len="med"/>
                    </a:lnB>
                  </a:tcPr>
                </a:tc>
                <a:tc>
                  <a:txBody>
                    <a:bodyPr/>
                    <a:lstStyle/>
                    <a:p>
                      <a:pPr algn="l" indent="0" marL="0">
                        <a:buNone/>
                      </a:pPr>
                      <a:r>
                        <a:rPr lang="en-US" sz="1700" dirty="0">
                          <a:solidFill>
                            <a:srgbClr val="14213D"/>
                          </a:solidFill>
                          <a:latin typeface="Atkinson Hyperlegible Next" pitchFamily="34" charset="0"/>
                          <a:ea typeface="Atkinson Hyperlegible Next" pitchFamily="34" charset="-122"/>
                          <a:cs typeface="Atkinson Hyperlegible Next" pitchFamily="34" charset="-120"/>
                        </a:rPr>
                        <a:t>13</a:t>
                      </a:r>
                      <a:endParaRPr lang="en-US" sz="1700" dirty="0">
                        <a:latin typeface="Atkinson Hyperlegible Next" charset="0"/>
                        <a:ea typeface="Atkinson Hyperlegible Next" charset="0"/>
                        <a:cs typeface="Atkinson Hyperlegible Next" charset="0"/>
                      </a:endParaRPr>
                    </a:p>
                  </a:txBody>
                  <a:tcPr marL="161921" marR="161921" marT="86358" marB="86358" anchor="ctr">
                    <a:lnL w="12700" cap="flat" cmpd="sng" algn="ctr">
                      <a:solidFill>
                        <a:srgbClr val="F7FAFC"/>
                      </a:solidFill>
                      <a:prstDash val="solid"/>
                      <a:round/>
                      <a:headEnd type="none" w="med" len="med"/>
                      <a:tailEnd type="none" w="med" len="med"/>
                    </a:lnL>
                    <a:lnR w="12700" cap="flat" cmpd="sng" algn="ctr">
                      <a:solidFill>
                        <a:srgbClr val="F7FAFC"/>
                      </a:solidFill>
                      <a:prstDash val="solid"/>
                      <a:round/>
                      <a:headEnd type="none" w="med" len="med"/>
                      <a:tailEnd type="none" w="med" len="med"/>
                    </a:lnR>
                    <a:lnT w="12700" cap="flat" cmpd="sng" algn="ctr">
                      <a:solidFill>
                        <a:srgbClr val="C9D3E0"/>
                      </a:solidFill>
                      <a:prstDash val="solid"/>
                      <a:round/>
                      <a:headEnd type="none" w="med" len="med"/>
                      <a:tailEnd type="none" w="med" len="med"/>
                    </a:lnT>
                    <a:lnB w="12700" cap="flat" cmpd="sng" algn="ctr">
                      <a:solidFill>
                        <a:srgbClr val="C9D3E0"/>
                      </a:solidFill>
                      <a:prstDash val="solid"/>
                      <a:round/>
                      <a:headEnd type="none" w="med" len="med"/>
                      <a:tailEnd type="none" w="med" len="med"/>
                    </a:lnB>
                  </a:tcPr>
                </a:tc>
              </a:tr>
              <a:tr h="487549">
                <a:tc>
                  <a:txBody>
                    <a:bodyPr/>
                    <a:lstStyle/>
                    <a:p>
                      <a:pPr algn="l" indent="0" marL="0">
                        <a:buNone/>
                      </a:pPr>
                      <a:r>
                        <a:rPr lang="en-US" sz="1700" dirty="0">
                          <a:solidFill>
                            <a:srgbClr val="14213D"/>
                          </a:solidFill>
                          <a:latin typeface="Atkinson Hyperlegible Next" pitchFamily="34" charset="0"/>
                          <a:ea typeface="Atkinson Hyperlegible Next" pitchFamily="34" charset="-122"/>
                          <a:cs typeface="Atkinson Hyperlegible Next" pitchFamily="34" charset="-120"/>
                        </a:rPr>
                        <a:t>Gi0/0.23</a:t>
                      </a:r>
                      <a:endParaRPr lang="en-US" sz="1700" dirty="0">
                        <a:latin typeface="Atkinson Hyperlegible Next" charset="0"/>
                        <a:ea typeface="Atkinson Hyperlegible Next" charset="0"/>
                        <a:cs typeface="Atkinson Hyperlegible Next" charset="0"/>
                      </a:endParaRPr>
                    </a:p>
                  </a:txBody>
                  <a:tcPr marL="161921" marR="161921" marT="86358" marB="86358" anchor="ctr">
                    <a:lnL w="12700" cap="flat" cmpd="sng" algn="ctr">
                      <a:solidFill>
                        <a:srgbClr val="F7FAFC"/>
                      </a:solidFill>
                      <a:prstDash val="solid"/>
                      <a:round/>
                      <a:headEnd type="none" w="med" len="med"/>
                      <a:tailEnd type="none" w="med" len="med"/>
                    </a:lnL>
                    <a:lnR w="12700" cap="flat" cmpd="sng" algn="ctr">
                      <a:solidFill>
                        <a:srgbClr val="F7FAFC"/>
                      </a:solidFill>
                      <a:prstDash val="solid"/>
                      <a:round/>
                      <a:headEnd type="none" w="med" len="med"/>
                      <a:tailEnd type="none" w="med" len="med"/>
                    </a:lnR>
                    <a:lnT w="12700" cap="flat" cmpd="sng" algn="ctr">
                      <a:solidFill>
                        <a:srgbClr val="C9D3E0"/>
                      </a:solidFill>
                      <a:prstDash val="solid"/>
                      <a:round/>
                      <a:headEnd type="none" w="med" len="med"/>
                      <a:tailEnd type="none" w="med" len="med"/>
                    </a:lnT>
                    <a:lnB w="12700" cap="flat" cmpd="sng" algn="ctr">
                      <a:solidFill>
                        <a:srgbClr val="C9D3E0"/>
                      </a:solidFill>
                      <a:prstDash val="solid"/>
                      <a:round/>
                      <a:headEnd type="none" w="med" len="med"/>
                      <a:tailEnd type="none" w="med" len="med"/>
                    </a:lnB>
                  </a:tcPr>
                </a:tc>
                <a:tc>
                  <a:txBody>
                    <a:bodyPr/>
                    <a:lstStyle/>
                    <a:p>
                      <a:pPr algn="l" indent="0" marL="0">
                        <a:buNone/>
                      </a:pPr>
                      <a:r>
                        <a:rPr lang="en-US" sz="1700" dirty="0">
                          <a:solidFill>
                            <a:srgbClr val="14213D"/>
                          </a:solidFill>
                          <a:latin typeface="Atkinson Hyperlegible Next" pitchFamily="34" charset="0"/>
                          <a:ea typeface="Atkinson Hyperlegible Next" pitchFamily="34" charset="-122"/>
                          <a:cs typeface="Atkinson Hyperlegible Next" pitchFamily="34" charset="-120"/>
                        </a:rPr>
                        <a:t>23</a:t>
                      </a:r>
                      <a:endParaRPr lang="en-US" sz="1700" dirty="0">
                        <a:latin typeface="Atkinson Hyperlegible Next" charset="0"/>
                        <a:ea typeface="Atkinson Hyperlegible Next" charset="0"/>
                        <a:cs typeface="Atkinson Hyperlegible Next" charset="0"/>
                      </a:endParaRPr>
                    </a:p>
                  </a:txBody>
                  <a:tcPr marL="161921" marR="161921" marT="86358" marB="86358" anchor="ctr">
                    <a:lnL w="12700" cap="flat" cmpd="sng" algn="ctr">
                      <a:solidFill>
                        <a:srgbClr val="F7FAFC"/>
                      </a:solidFill>
                      <a:prstDash val="solid"/>
                      <a:round/>
                      <a:headEnd type="none" w="med" len="med"/>
                      <a:tailEnd type="none" w="med" len="med"/>
                    </a:lnL>
                    <a:lnR w="12700" cap="flat" cmpd="sng" algn="ctr">
                      <a:solidFill>
                        <a:srgbClr val="F7FAFC"/>
                      </a:solidFill>
                      <a:prstDash val="solid"/>
                      <a:round/>
                      <a:headEnd type="none" w="med" len="med"/>
                      <a:tailEnd type="none" w="med" len="med"/>
                    </a:lnR>
                    <a:lnT w="12700" cap="flat" cmpd="sng" algn="ctr">
                      <a:solidFill>
                        <a:srgbClr val="C9D3E0"/>
                      </a:solidFill>
                      <a:prstDash val="solid"/>
                      <a:round/>
                      <a:headEnd type="none" w="med" len="med"/>
                      <a:tailEnd type="none" w="med" len="med"/>
                    </a:lnT>
                    <a:lnB w="12700" cap="flat" cmpd="sng" algn="ctr">
                      <a:solidFill>
                        <a:srgbClr val="C9D3E0"/>
                      </a:solidFill>
                      <a:prstDash val="solid"/>
                      <a:round/>
                      <a:headEnd type="none" w="med" len="med"/>
                      <a:tailEnd type="none" w="med" len="med"/>
                    </a:lnB>
                  </a:tcPr>
                </a:tc>
              </a:tr>
              <a:tr h="487549">
                <a:tc>
                  <a:txBody>
                    <a:bodyPr/>
                    <a:lstStyle/>
                    <a:p>
                      <a:pPr algn="l" indent="0" marL="0">
                        <a:buNone/>
                      </a:pPr>
                      <a:r>
                        <a:rPr lang="en-US" sz="1700" dirty="0">
                          <a:solidFill>
                            <a:srgbClr val="14213D"/>
                          </a:solidFill>
                          <a:latin typeface="Atkinson Hyperlegible Next" pitchFamily="34" charset="0"/>
                          <a:ea typeface="Atkinson Hyperlegible Next" pitchFamily="34" charset="-122"/>
                          <a:cs typeface="Atkinson Hyperlegible Next" pitchFamily="34" charset="-120"/>
                        </a:rPr>
                        <a:t>Gi0/0.33</a:t>
                      </a:r>
                      <a:endParaRPr lang="en-US" sz="1700" dirty="0">
                        <a:latin typeface="Atkinson Hyperlegible Next" charset="0"/>
                        <a:ea typeface="Atkinson Hyperlegible Next" charset="0"/>
                        <a:cs typeface="Atkinson Hyperlegible Next" charset="0"/>
                      </a:endParaRPr>
                    </a:p>
                  </a:txBody>
                  <a:tcPr marL="161921" marR="161921" marT="86358" marB="86358" anchor="ctr">
                    <a:lnL w="12700" cap="flat" cmpd="sng" algn="ctr">
                      <a:solidFill>
                        <a:srgbClr val="F7FAFC"/>
                      </a:solidFill>
                      <a:prstDash val="solid"/>
                      <a:round/>
                      <a:headEnd type="none" w="med" len="med"/>
                      <a:tailEnd type="none" w="med" len="med"/>
                    </a:lnL>
                    <a:lnR w="12700" cap="flat" cmpd="sng" algn="ctr">
                      <a:solidFill>
                        <a:srgbClr val="F7FAFC"/>
                      </a:solidFill>
                      <a:prstDash val="solid"/>
                      <a:round/>
                      <a:headEnd type="none" w="med" len="med"/>
                      <a:tailEnd type="none" w="med" len="med"/>
                    </a:lnR>
                    <a:lnT w="12700" cap="flat" cmpd="sng" algn="ctr">
                      <a:solidFill>
                        <a:srgbClr val="C9D3E0"/>
                      </a:solidFill>
                      <a:prstDash val="solid"/>
                      <a:round/>
                      <a:headEnd type="none" w="med" len="med"/>
                      <a:tailEnd type="none" w="med" len="med"/>
                    </a:lnT>
                    <a:lnB w="12700" cap="flat" cmpd="sng" algn="ctr">
                      <a:solidFill>
                        <a:srgbClr val="C9D3E0"/>
                      </a:solidFill>
                      <a:prstDash val="solid"/>
                      <a:round/>
                      <a:headEnd type="none" w="med" len="med"/>
                      <a:tailEnd type="none" w="med" len="med"/>
                    </a:lnB>
                  </a:tcPr>
                </a:tc>
                <a:tc>
                  <a:txBody>
                    <a:bodyPr/>
                    <a:lstStyle/>
                    <a:p>
                      <a:pPr algn="l" indent="0" marL="0">
                        <a:buNone/>
                      </a:pPr>
                      <a:r>
                        <a:rPr lang="en-US" sz="1700" dirty="0">
                          <a:solidFill>
                            <a:srgbClr val="14213D"/>
                          </a:solidFill>
                          <a:latin typeface="Atkinson Hyperlegible Next" pitchFamily="34" charset="0"/>
                          <a:ea typeface="Atkinson Hyperlegible Next" pitchFamily="34" charset="-122"/>
                          <a:cs typeface="Atkinson Hyperlegible Next" pitchFamily="34" charset="-120"/>
                        </a:rPr>
                        <a:t>33</a:t>
                      </a:r>
                      <a:endParaRPr lang="en-US" sz="1700" dirty="0">
                        <a:latin typeface="Atkinson Hyperlegible Next" charset="0"/>
                        <a:ea typeface="Atkinson Hyperlegible Next" charset="0"/>
                        <a:cs typeface="Atkinson Hyperlegible Next" charset="0"/>
                      </a:endParaRPr>
                    </a:p>
                  </a:txBody>
                  <a:tcPr marL="161921" marR="161921" marT="86358" marB="86358" anchor="ctr">
                    <a:lnL w="12700" cap="flat" cmpd="sng" algn="ctr">
                      <a:solidFill>
                        <a:srgbClr val="F7FAFC"/>
                      </a:solidFill>
                      <a:prstDash val="solid"/>
                      <a:round/>
                      <a:headEnd type="none" w="med" len="med"/>
                      <a:tailEnd type="none" w="med" len="med"/>
                    </a:lnL>
                    <a:lnR w="12700" cap="flat" cmpd="sng" algn="ctr">
                      <a:solidFill>
                        <a:srgbClr val="F7FAFC"/>
                      </a:solidFill>
                      <a:prstDash val="solid"/>
                      <a:round/>
                      <a:headEnd type="none" w="med" len="med"/>
                      <a:tailEnd type="none" w="med" len="med"/>
                    </a:lnR>
                    <a:lnT w="12700" cap="flat" cmpd="sng" algn="ctr">
                      <a:solidFill>
                        <a:srgbClr val="C9D3E0"/>
                      </a:solidFill>
                      <a:prstDash val="solid"/>
                      <a:round/>
                      <a:headEnd type="none" w="med" len="med"/>
                      <a:tailEnd type="none" w="med" len="med"/>
                    </a:lnT>
                    <a:lnB w="12700" cap="flat" cmpd="sng" algn="ctr">
                      <a:solidFill>
                        <a:srgbClr val="C9D3E0"/>
                      </a:solidFill>
                      <a:prstDash val="solid"/>
                      <a:round/>
                      <a:headEnd type="none" w="med" len="med"/>
                      <a:tailEnd type="none" w="med" len="med"/>
                    </a:lnB>
                  </a:tcPr>
                </a:tc>
              </a:tr>
              <a:tr h="487549">
                <a:tc>
                  <a:txBody>
                    <a:bodyPr/>
                    <a:lstStyle/>
                    <a:p>
                      <a:pPr algn="l" indent="0" marL="0">
                        <a:buNone/>
                      </a:pPr>
                      <a:r>
                        <a:rPr lang="en-US" sz="1700" dirty="0">
                          <a:solidFill>
                            <a:srgbClr val="14213D"/>
                          </a:solidFill>
                          <a:latin typeface="Atkinson Hyperlegible Next" pitchFamily="34" charset="0"/>
                          <a:ea typeface="Atkinson Hyperlegible Next" pitchFamily="34" charset="-122"/>
                          <a:cs typeface="Atkinson Hyperlegible Next" pitchFamily="34" charset="-120"/>
                        </a:rPr>
                        <a:t>Gi0/0.43</a:t>
                      </a:r>
                      <a:endParaRPr lang="en-US" sz="1700" dirty="0">
                        <a:latin typeface="Atkinson Hyperlegible Next" charset="0"/>
                        <a:ea typeface="Atkinson Hyperlegible Next" charset="0"/>
                        <a:cs typeface="Atkinson Hyperlegible Next" charset="0"/>
                      </a:endParaRPr>
                    </a:p>
                  </a:txBody>
                  <a:tcPr marL="161921" marR="161921" marT="86358" marB="86358" anchor="ctr">
                    <a:lnL w="12700" cap="flat" cmpd="sng" algn="ctr">
                      <a:solidFill>
                        <a:srgbClr val="F7FAFC"/>
                      </a:solidFill>
                      <a:prstDash val="solid"/>
                      <a:round/>
                      <a:headEnd type="none" w="med" len="med"/>
                      <a:tailEnd type="none" w="med" len="med"/>
                    </a:lnL>
                    <a:lnR w="12700" cap="flat" cmpd="sng" algn="ctr">
                      <a:solidFill>
                        <a:srgbClr val="F7FAFC"/>
                      </a:solidFill>
                      <a:prstDash val="solid"/>
                      <a:round/>
                      <a:headEnd type="none" w="med" len="med"/>
                      <a:tailEnd type="none" w="med" len="med"/>
                    </a:lnR>
                    <a:lnT w="12700" cap="flat" cmpd="sng" algn="ctr">
                      <a:solidFill>
                        <a:srgbClr val="C9D3E0"/>
                      </a:solidFill>
                      <a:prstDash val="solid"/>
                      <a:round/>
                      <a:headEnd type="none" w="med" len="med"/>
                      <a:tailEnd type="none" w="med" len="med"/>
                    </a:lnT>
                    <a:lnB w="12700" cap="flat" cmpd="sng" algn="ctr">
                      <a:solidFill>
                        <a:srgbClr val="C9D3E0"/>
                      </a:solidFill>
                      <a:prstDash val="solid"/>
                      <a:round/>
                      <a:headEnd type="none" w="med" len="med"/>
                      <a:tailEnd type="none" w="med" len="med"/>
                    </a:lnB>
                  </a:tcPr>
                </a:tc>
                <a:tc>
                  <a:txBody>
                    <a:bodyPr/>
                    <a:lstStyle/>
                    <a:p>
                      <a:pPr algn="l" indent="0" marL="0">
                        <a:buNone/>
                      </a:pPr>
                      <a:r>
                        <a:rPr lang="en-US" sz="1700" dirty="0">
                          <a:solidFill>
                            <a:srgbClr val="14213D"/>
                          </a:solidFill>
                          <a:latin typeface="Atkinson Hyperlegible Next" pitchFamily="34" charset="0"/>
                          <a:ea typeface="Atkinson Hyperlegible Next" pitchFamily="34" charset="-122"/>
                          <a:cs typeface="Atkinson Hyperlegible Next" pitchFamily="34" charset="-120"/>
                        </a:rPr>
                        <a:t>43</a:t>
                      </a:r>
                      <a:endParaRPr lang="en-US" sz="1700" dirty="0">
                        <a:latin typeface="Atkinson Hyperlegible Next" charset="0"/>
                        <a:ea typeface="Atkinson Hyperlegible Next" charset="0"/>
                        <a:cs typeface="Atkinson Hyperlegible Next" charset="0"/>
                      </a:endParaRPr>
                    </a:p>
                  </a:txBody>
                  <a:tcPr marL="161921" marR="161921" marT="86358" marB="86358" anchor="ctr">
                    <a:lnL w="12700" cap="flat" cmpd="sng" algn="ctr">
                      <a:solidFill>
                        <a:srgbClr val="F7FAFC"/>
                      </a:solidFill>
                      <a:prstDash val="solid"/>
                      <a:round/>
                      <a:headEnd type="none" w="med" len="med"/>
                      <a:tailEnd type="none" w="med" len="med"/>
                    </a:lnL>
                    <a:lnR w="12700" cap="flat" cmpd="sng" algn="ctr">
                      <a:solidFill>
                        <a:srgbClr val="F7FAFC"/>
                      </a:solidFill>
                      <a:prstDash val="solid"/>
                      <a:round/>
                      <a:headEnd type="none" w="med" len="med"/>
                      <a:tailEnd type="none" w="med" len="med"/>
                    </a:lnR>
                    <a:lnT w="12700" cap="flat" cmpd="sng" algn="ctr">
                      <a:solidFill>
                        <a:srgbClr val="C9D3E0"/>
                      </a:solidFill>
                      <a:prstDash val="solid"/>
                      <a:round/>
                      <a:headEnd type="none" w="med" len="med"/>
                      <a:tailEnd type="none" w="med" len="med"/>
                    </a:lnT>
                    <a:lnB w="12700" cap="flat" cmpd="sng" algn="ctr">
                      <a:solidFill>
                        <a:srgbClr val="C9D3E0"/>
                      </a:solidFill>
                      <a:prstDash val="solid"/>
                      <a:round/>
                      <a:headEnd type="none" w="med" len="med"/>
                      <a:tailEnd type="none" w="med" len="med"/>
                    </a:lnB>
                  </a:tcPr>
                </a:tc>
              </a:tr>
              <a:tr h="474849">
                <a:tc>
                  <a:txBody>
                    <a:bodyPr/>
                    <a:lstStyle/>
                    <a:p>
                      <a:pPr algn="l" indent="0" marL="0">
                        <a:buNone/>
                      </a:pPr>
                      <a:r>
                        <a:rPr lang="en-US" sz="1700" dirty="0">
                          <a:solidFill>
                            <a:srgbClr val="14213D"/>
                          </a:solidFill>
                          <a:latin typeface="Atkinson Hyperlegible Next" pitchFamily="34" charset="0"/>
                          <a:ea typeface="Atkinson Hyperlegible Next" pitchFamily="34" charset="-122"/>
                          <a:cs typeface="Atkinson Hyperlegible Next" pitchFamily="34" charset="-120"/>
                        </a:rPr>
                        <a:t>Gi0/0.915</a:t>
                      </a:r>
                      <a:endParaRPr lang="en-US" sz="1700" dirty="0">
                        <a:latin typeface="Atkinson Hyperlegible Next" charset="0"/>
                        <a:ea typeface="Atkinson Hyperlegible Next" charset="0"/>
                        <a:cs typeface="Atkinson Hyperlegible Next" charset="0"/>
                      </a:endParaRPr>
                    </a:p>
                  </a:txBody>
                  <a:tcPr marL="161921" marR="161921" marT="86358" marB="86358" anchor="ctr">
                    <a:lnL w="12700" cap="flat" cmpd="sng" algn="ctr">
                      <a:solidFill>
                        <a:srgbClr val="F7FAFC"/>
                      </a:solidFill>
                      <a:prstDash val="solid"/>
                      <a:round/>
                      <a:headEnd type="none" w="med" len="med"/>
                      <a:tailEnd type="none" w="med" len="med"/>
                    </a:lnL>
                    <a:lnR w="12700" cap="flat" cmpd="sng" algn="ctr">
                      <a:solidFill>
                        <a:srgbClr val="F7FAFC"/>
                      </a:solidFill>
                      <a:prstDash val="solid"/>
                      <a:round/>
                      <a:headEnd type="none" w="med" len="med"/>
                      <a:tailEnd type="none" w="med" len="med"/>
                    </a:lnR>
                    <a:lnT w="12700" cap="flat" cmpd="sng" algn="ctr">
                      <a:solidFill>
                        <a:srgbClr val="C9D3E0"/>
                      </a:solidFill>
                      <a:prstDash val="solid"/>
                      <a:round/>
                      <a:headEnd type="none" w="med" len="med"/>
                      <a:tailEnd type="none" w="med" len="med"/>
                    </a:lnT>
                    <a:lnB w="12700" cap="flat" cmpd="sng" algn="ctr">
                      <a:solidFill>
                        <a:srgbClr val="F7FAFC"/>
                      </a:solidFill>
                      <a:prstDash val="solid"/>
                      <a:round/>
                      <a:headEnd type="none" w="med" len="med"/>
                      <a:tailEnd type="none" w="med" len="med"/>
                    </a:lnB>
                  </a:tcPr>
                </a:tc>
                <a:tc>
                  <a:txBody>
                    <a:bodyPr/>
                    <a:lstStyle/>
                    <a:p>
                      <a:pPr algn="l" indent="0" marL="0">
                        <a:buNone/>
                      </a:pPr>
                      <a:r>
                        <a:rPr lang="en-US" sz="1700" dirty="0">
                          <a:solidFill>
                            <a:srgbClr val="14213D"/>
                          </a:solidFill>
                          <a:latin typeface="Atkinson Hyperlegible Next" pitchFamily="34" charset="0"/>
                          <a:ea typeface="Atkinson Hyperlegible Next" pitchFamily="34" charset="-122"/>
                          <a:cs typeface="Atkinson Hyperlegible Next" pitchFamily="34" charset="-120"/>
                        </a:rPr>
                        <a:t>Guest (915)</a:t>
                      </a:r>
                      <a:endParaRPr lang="en-US" sz="1700" dirty="0">
                        <a:latin typeface="Atkinson Hyperlegible Next" charset="0"/>
                        <a:ea typeface="Atkinson Hyperlegible Next" charset="0"/>
                        <a:cs typeface="Atkinson Hyperlegible Next" charset="0"/>
                      </a:endParaRPr>
                    </a:p>
                  </a:txBody>
                  <a:tcPr marL="161921" marR="161921" marT="86358" marB="86358" anchor="ctr">
                    <a:lnL w="12700" cap="flat" cmpd="sng" algn="ctr">
                      <a:solidFill>
                        <a:srgbClr val="F7FAFC"/>
                      </a:solidFill>
                      <a:prstDash val="solid"/>
                      <a:round/>
                      <a:headEnd type="none" w="med" len="med"/>
                      <a:tailEnd type="none" w="med" len="med"/>
                    </a:lnL>
                    <a:lnR w="12700" cap="flat" cmpd="sng" algn="ctr">
                      <a:solidFill>
                        <a:srgbClr val="F7FAFC"/>
                      </a:solidFill>
                      <a:prstDash val="solid"/>
                      <a:round/>
                      <a:headEnd type="none" w="med" len="med"/>
                      <a:tailEnd type="none" w="med" len="med"/>
                    </a:lnR>
                    <a:lnT w="12700" cap="flat" cmpd="sng" algn="ctr">
                      <a:solidFill>
                        <a:srgbClr val="C9D3E0"/>
                      </a:solidFill>
                      <a:prstDash val="solid"/>
                      <a:round/>
                      <a:headEnd type="none" w="med" len="med"/>
                      <a:tailEnd type="none" w="med" len="med"/>
                    </a:lnT>
                    <a:lnB w="12700" cap="flat" cmpd="sng" algn="ctr">
                      <a:solidFill>
                        <a:srgbClr val="F7FAFC"/>
                      </a:solidFill>
                      <a:prstDash val="solid"/>
                      <a:round/>
                      <a:headEnd type="none" w="med" len="med"/>
                      <a:tailEnd type="none" w="med" len="med"/>
                    </a:lnB>
                  </a:tcPr>
                </a:tc>
              </a:tr>
            </a:tbl>
          </a:graphicData>
        </a:graphic>
      </p:graphicFrame>
      <p:sp>
        <p:nvSpPr>
          <p:cNvPr id="14" name="Shape 11"/>
          <p:cNvSpPr/>
          <p:nvPr/>
        </p:nvSpPr>
        <p:spPr>
          <a:xfrm>
            <a:off x="4876678" y="5233591"/>
            <a:ext cx="6807030" cy="1144191"/>
          </a:xfrm>
          <a:prstGeom prst="roundRect">
            <a:avLst>
              <a:gd name="adj" fmla="val 7925"/>
            </a:avLst>
          </a:prstGeom>
          <a:solidFill>
            <a:srgbClr val="B6D6FC"/>
          </a:solidFill>
          <a:ln/>
        </p:spPr>
      </p:sp>
      <p:pic>
        <p:nvPicPr>
          <p:cNvPr id="15" name="Image 0" descr="preencoded.png">    </p:cNvPr>
          <p:cNvPicPr>
            <a:picLocks noChangeAspect="1"/>
          </p:cNvPicPr>
          <p:nvPr/>
        </p:nvPicPr>
        <p:blipFill>
          <a:blip r:embed="rId1"/>
          <a:stretch>
            <a:fillRect/>
          </a:stretch>
        </p:blipFill>
        <p:spPr>
          <a:xfrm>
            <a:off x="5092573" y="5530453"/>
            <a:ext cx="269868" cy="215900"/>
          </a:xfrm>
          <a:prstGeom prst="rect">
            <a:avLst/>
          </a:prstGeom>
        </p:spPr>
      </p:pic>
      <p:sp>
        <p:nvSpPr>
          <p:cNvPr id="16" name="Text 12"/>
          <p:cNvSpPr/>
          <p:nvPr/>
        </p:nvSpPr>
        <p:spPr>
          <a:xfrm>
            <a:off x="5578335" y="5503466"/>
            <a:ext cx="5889478" cy="604441"/>
          </a:xfrm>
          <a:prstGeom prst="rect">
            <a:avLst/>
          </a:prstGeom>
          <a:noFill/>
          <a:ln/>
        </p:spPr>
        <p:txBody>
          <a:bodyPr wrap="square" lIns="0" tIns="0" rIns="0" bIns="0" rtlCol="0" anchor="t">
            <a:normAutofit/>
          </a:bodyPr>
          <a:lstStyle/>
          <a:p>
            <a:pPr algn="l" indent="0" marL="0">
              <a:lnSpc>
                <a:spcPct val="117000"/>
              </a:lnSpc>
              <a:buNone/>
            </a:pPr>
            <a:r>
              <a:rPr lang="en-US" sz="1700" b="1" dirty="0">
                <a:solidFill>
                  <a:srgbClr val="000000"/>
                </a:solidFill>
                <a:latin typeface="Atkinson Hyperlegible Next Bold" pitchFamily="34" charset="0"/>
                <a:ea typeface="Atkinson Hyperlegible Next Bold" pitchFamily="34" charset="-122"/>
                <a:cs typeface="Atkinson Hyperlegible Next Bold" pitchFamily="34" charset="-120"/>
              </a:rPr>
              <a:t>ACL control</a:t>
            </a:r>
            <a:pPr algn="l" indent="0" marL="0">
              <a:lnSpc>
                <a:spcPct val="117000"/>
              </a:lnSpc>
              <a:buNone/>
            </a:pPr>
            <a:r>
              <a:rPr lang="en-US" sz="1700" dirty="0">
                <a:solidFill>
                  <a:srgbClr val="000000"/>
                </a:solidFill>
                <a:latin typeface="Atkinson Hyperlegible Next" pitchFamily="34" charset="0"/>
                <a:ea typeface="Atkinson Hyperlegible Next" pitchFamily="34" charset="-122"/>
                <a:cs typeface="Atkinson Hyperlegible Next" pitchFamily="34" charset="-120"/>
              </a:rPr>
              <a:t> · Guest → Internet; internal systems blocked from guest access.</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2026-10-03T05:10:23Z</dcterms:created>
  <dcterms:modified xsi:type="dcterms:W3CDTF">2026-10-03T05:10:23Z</dcterms:modified>
</cp:coreProperties>
</file>